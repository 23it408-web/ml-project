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vie Recommendation" id="{5e81c883-466d-8469-27a5-2c7a480013c5}">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 am Prit Patel, ID 23IT408, from Birla Vishvakarma Mahavidyalaya. This is my Machine Learning mini project (subject code 4IT47): a Movie Recommendation system built using two standard algorithms, KNN and K-Means.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there are thousands of movies and people get confused choosing. A recommender system works like a shopkeeper who knows your taste. Our objectives are simple: suggest similar movies, use two standard ML algorithms, and give a clean UI. Our dataset has 110 movies.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Recommenders are everywhere. Netflix and Hotstar suggest shows, YouTube and Spotify suggest the next video or song, Amazon and Flipkart show customers also viewed, and the same idea works for jobs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Python with Pandas and NumPy for data, scikit-learn for the ML algorithms, and Streamlit for the user interface. The dataset is a CSV file of 110 movies with title, year, rating, genres and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flow. We load the dataset, convert text into numbers, train the model, measure distance between movies, pick the top matches, and show them in the UI with a match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Algorithms understand only numbers. Genres are one-hot encoded, tags use bag of words, and rating is scaled between 0 and 1. For example, Inception's rating 8.8 becomes 0.87. Genres are counted double because they matter most for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two standard algorithms. KNN is like asking your closest friends: it finds the K nearest movies using cosine distance. K-Means is like arranging movies on shelves: it groups movies into clusters and recommends from the same cluster. Examples are shown at the bottom of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app looks. On the left the user picks KNN or K-Means. In the main area they select a movie and click Recommend. The result cards show rating, genres and a match percentage bar. For Inception, KNN suggests The Matrix, Terminator 2 and Edge of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a working recommender with 110 movies using KNN and K-Means and a simple UI. Limitations: it uses only movie features, not user ratings, and the dataset is small. In future we can add collaborative filtering, a hybrid model and a larger dataset like MovieLens.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your time and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Movie Recommendation  |  Prit Patel  |  23IT408</a:t>
            </a:r>
            <a:endParaRPr lang="en-US" sz="1000" dirty="0"/>
          </a:p>
        </p:txBody>
      </p:sp>
      <p:sp>
        <p:nvSpPr>
          <p:cNvPr id="3" name="Text 1"/>
          <p:cNvSpPr/>
          <p:nvPr>
            <p:ph idx="101" type="title" hasCustomPrompt="1"/>
          </p:nvPr>
        </p:nvSpPr>
        <p:spPr>
          <a:xfrm>
            <a:off x="457200" y="320040"/>
            <a:ext cx="822960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Movie Recommendation  |  Prit Patel  |  23IT408</a:t>
            </a:r>
            <a:endParaRPr lang="en-US" sz="1000" dirty="0"/>
          </a:p>
        </p:txBody>
      </p:sp>
      <p:sp>
        <p:nvSpPr>
          <p:cNvPr id="3" name="Text 1"/>
          <p:cNvSpPr/>
          <p:nvPr>
            <p:ph idx="101" type="title" hasCustomPrompt="1"/>
          </p:nvPr>
        </p:nvSpPr>
        <p:spPr>
          <a:xfrm>
            <a:off x="457200" y="320040"/>
            <a:ext cx="822960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TRO">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691640"/>
            <a:ext cx="5486400" cy="13716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40280"/>
            <a:ext cx="8229600" cy="1097280"/>
          </a:xfrm>
          <a:prstGeom prst="rect">
            <a:avLst/>
          </a:prstGeom>
          <a:noFill/>
          <a:ln/>
        </p:spPr>
        <p:txBody>
          <a:bodyPr wrap="square" rtlCol="0"/>
          <a:lstStyle>
            <a:lvl1pPr algn="ctr" indent="0" marL="0">
              <a:buNone/>
              <a:defRPr lang="en-US" sz="5600" b="1" dirty="0">
                <a:solidFill>
                  <a:schemeClr val="bg1"/>
                </a:solidFill>
              </a:defRPr>
            </a:lvl1pPr>
          </a:lstStyle>
          <a:p>
            <a:pPr algn="ctr" indent="0" marL="0">
              <a:buNone/>
            </a:pPr>
            <a:endParaRPr lang="en-US" sz="5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bvmengineering.ac.in/" TargetMode="External"/><Relationship Id="rId1" Type="http://schemas.openxmlformats.org/officeDocument/2006/relationships/image" Target="../media/image-1-1.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eel-big"/>
          <p:cNvSpPr/>
          <p:nvPr/>
        </p:nvSpPr>
        <p:spPr>
          <a:xfrm>
            <a:off x="5760720" y="182880"/>
            <a:ext cx="3566160" cy="3566160"/>
          </a:xfrm>
          <a:prstGeom prst="ellipse">
            <a:avLst/>
          </a:prstGeom>
          <a:solidFill>
            <a:schemeClr val="accent6"/>
          </a:solidFill>
          <a:ln w="12700">
            <a:solidFill>
              <a:schemeClr val="accent6"/>
            </a:solidFill>
            <a:prstDash val="solid"/>
          </a:ln>
        </p:spPr>
      </p:sp>
      <p:sp>
        <p:nvSpPr>
          <p:cNvPr id="3" name="play-circle"/>
          <p:cNvSpPr/>
          <p:nvPr/>
        </p:nvSpPr>
        <p:spPr>
          <a:xfrm>
            <a:off x="8001000" y="274320"/>
            <a:ext cx="731520" cy="731520"/>
          </a:xfrm>
          <a:prstGeom prst="ellipse">
            <a:avLst/>
          </a:prstGeom>
          <a:solidFill>
            <a:schemeClr val="accent1"/>
          </a:solidFill>
          <a:ln w="12700">
            <a:solidFill>
              <a:schemeClr val="accent1"/>
            </a:solidFill>
            <a:prstDash val="solid"/>
          </a:ln>
        </p:spPr>
      </p:sp>
      <p:sp>
        <p:nvSpPr>
          <p:cNvPr id="4" name="play-icon"/>
          <p:cNvSpPr/>
          <p:nvPr/>
        </p:nvSpPr>
        <p:spPr>
          <a:xfrm rot="5400000">
            <a:off x="8229600" y="475488"/>
            <a:ext cx="256032" cy="256032"/>
          </a:xfrm>
          <a:prstGeom prst="triangle">
            <a:avLst/>
          </a:prstGeom>
          <a:solidFill>
            <a:schemeClr val="tx1"/>
          </a:solidFill>
          <a:ln w="12700">
            <a:solidFill>
              <a:schemeClr val="tx1"/>
            </a:solidFill>
            <a:prstDash val="solid"/>
          </a:ln>
        </p:spPr>
      </p:sp>
      <p:sp>
        <p:nvSpPr>
          <p:cNvPr id="5" name="poster-card"/>
          <p:cNvSpPr/>
          <p:nvPr/>
        </p:nvSpPr>
        <p:spPr>
          <a:xfrm rot="-360000">
            <a:off x="6217920" y="1188720"/>
            <a:ext cx="2194560" cy="960120"/>
          </a:xfrm>
          <a:prstGeom prst="roundRect">
            <a:avLst>
              <a:gd name="adj" fmla="val 11429"/>
            </a:avLst>
          </a:prstGeom>
          <a:solidFill>
            <a:schemeClr val="bg1"/>
          </a:solidFill>
          <a:ln>
            <a:solidFill>
              <a:schemeClr val="bg1"/>
            </a:solidFill>
          </a:ln>
        </p:spPr>
        <p:txBody>
          <a:bodyPr wrap="square" lIns="228600" tIns="228600" rIns="228600" bIns="228600" rtlCol="0" anchor="ctr"/>
          <a:lstStyle/>
          <a:p>
            <a:pPr algn="l" indent="0" marL="0">
              <a:buNone/>
            </a:pPr>
            <a:r>
              <a:rPr lang="en-US" sz="1700" b="1" dirty="0">
                <a:solidFill>
                  <a:schemeClr val="tx1"/>
                </a:solidFill>
              </a:rPr>
              <a:t>The Matrix</a:t>
            </a:r>
            <a:endParaRPr lang="en-US" sz="1700" dirty="0"/>
          </a:p>
          <a:p>
            <a:pPr algn="l" indent="0" marL="0">
              <a:buNone/>
            </a:pPr>
            <a:r>
              <a:rPr lang="en-US" sz="1400" b="1" dirty="0">
                <a:solidFill>
                  <a:schemeClr val="accent2"/>
                </a:solidFill>
              </a:rPr>
              <a:t>Match 62%</a:t>
            </a:r>
            <a:endParaRPr lang="en-US" sz="1700" dirty="0"/>
          </a:p>
        </p:txBody>
      </p:sp>
      <p:sp>
        <p:nvSpPr>
          <p:cNvPr id="6" name="poster-card"/>
          <p:cNvSpPr/>
          <p:nvPr/>
        </p:nvSpPr>
        <p:spPr>
          <a:xfrm rot="240000">
            <a:off x="6583680" y="2331720"/>
            <a:ext cx="2194560" cy="960120"/>
          </a:xfrm>
          <a:prstGeom prst="roundRect">
            <a:avLst>
              <a:gd name="adj" fmla="val 11429"/>
            </a:avLst>
          </a:prstGeom>
          <a:solidFill>
            <a:schemeClr val="bg1"/>
          </a:solidFill>
          <a:ln>
            <a:solidFill>
              <a:schemeClr val="bg1"/>
            </a:solidFill>
          </a:ln>
        </p:spPr>
        <p:txBody>
          <a:bodyPr wrap="square" lIns="228600" tIns="228600" rIns="228600" bIns="228600" rtlCol="0" anchor="ctr"/>
          <a:lstStyle/>
          <a:p>
            <a:pPr algn="l" indent="0" marL="0">
              <a:buNone/>
            </a:pPr>
            <a:r>
              <a:rPr lang="en-US" sz="1700" b="1" dirty="0">
                <a:solidFill>
                  <a:schemeClr val="tx1"/>
                </a:solidFill>
              </a:rPr>
              <a:t>Terminator 2</a:t>
            </a:r>
            <a:endParaRPr lang="en-US" sz="1700" dirty="0"/>
          </a:p>
          <a:p>
            <a:pPr algn="l" indent="0" marL="0">
              <a:buNone/>
            </a:pPr>
            <a:r>
              <a:rPr lang="en-US" sz="1400" b="1" dirty="0">
                <a:solidFill>
                  <a:schemeClr val="accent3"/>
                </a:solidFill>
              </a:rPr>
              <a:t>Match 58%</a:t>
            </a:r>
            <a:endParaRPr lang="en-US" sz="1700" dirty="0"/>
          </a:p>
        </p:txBody>
      </p:sp>
      <p:sp>
        <p:nvSpPr>
          <p:cNvPr id="7" name="poster-card"/>
          <p:cNvSpPr/>
          <p:nvPr/>
        </p:nvSpPr>
        <p:spPr>
          <a:xfrm rot="-240000">
            <a:off x="6172200" y="3474720"/>
            <a:ext cx="2194560" cy="960120"/>
          </a:xfrm>
          <a:prstGeom prst="roundRect">
            <a:avLst>
              <a:gd name="adj" fmla="val 11429"/>
            </a:avLst>
          </a:prstGeom>
          <a:solidFill>
            <a:schemeClr val="bg1"/>
          </a:solidFill>
          <a:ln>
            <a:solidFill>
              <a:schemeClr val="bg1"/>
            </a:solidFill>
          </a:ln>
        </p:spPr>
        <p:txBody>
          <a:bodyPr wrap="square" lIns="228600" tIns="228600" rIns="228600" bIns="228600" rtlCol="0" anchor="ctr"/>
          <a:lstStyle/>
          <a:p>
            <a:pPr algn="l" indent="0" marL="0">
              <a:buNone/>
            </a:pPr>
            <a:r>
              <a:rPr lang="en-US" sz="1700" b="1" dirty="0">
                <a:solidFill>
                  <a:schemeClr val="tx1"/>
                </a:solidFill>
              </a:rPr>
              <a:t>Edge of Tomorrow</a:t>
            </a:r>
            <a:endParaRPr lang="en-US" sz="1700" dirty="0"/>
          </a:p>
          <a:p>
            <a:pPr algn="l" indent="0" marL="0">
              <a:buNone/>
            </a:pPr>
            <a:r>
              <a:rPr lang="en-US" sz="1400" b="1" dirty="0">
                <a:solidFill>
                  <a:schemeClr val="accent4"/>
                </a:solidFill>
              </a:rPr>
              <a:t>Match 58%</a:t>
            </a:r>
            <a:endParaRPr lang="en-US" sz="1700" dirty="0"/>
          </a:p>
        </p:txBody>
      </p:sp>
      <p:sp>
        <p:nvSpPr>
          <p:cNvPr id="8" name="logo-circle"/>
          <p:cNvSpPr/>
          <p:nvPr/>
        </p:nvSpPr>
        <p:spPr>
          <a:xfrm>
            <a:off x="457200" y="365760"/>
            <a:ext cx="914400" cy="914400"/>
          </a:xfrm>
          <a:prstGeom prst="ellipse">
            <a:avLst/>
          </a:prstGeom>
          <a:solidFill>
            <a:schemeClr val="bg1"/>
          </a:solidFill>
          <a:ln w="12700">
            <a:solidFill>
              <a:schemeClr val="bg1"/>
            </a:solidFill>
            <a:prstDash val="solid"/>
          </a:ln>
        </p:spPr>
      </p:sp>
      <p:pic>
        <p:nvPicPr>
          <p:cNvPr id="9" name="Image 0" descr="BVM logo">    </p:cNvPr>
          <p:cNvPicPr>
            <a:picLocks noChangeAspect="1"/>
          </p:cNvPicPr>
          <p:nvPr/>
        </p:nvPicPr>
        <p:blipFill>
          <a:blip r:embed="rId1"/>
          <a:stretch>
            <a:fillRect/>
          </a:stretch>
        </p:blipFill>
        <p:spPr>
          <a:xfrm>
            <a:off x="640080" y="548640"/>
            <a:ext cx="548640" cy="521208"/>
          </a:xfrm>
          <a:prstGeom prst="rect">
            <a:avLst/>
          </a:prstGeom>
        </p:spPr>
      </p:pic>
      <p:sp>
        <p:nvSpPr>
          <p:cNvPr id="10" name="Text 7"/>
          <p:cNvSpPr txBox="1"/>
          <p:nvPr/>
        </p:nvSpPr>
        <p:spPr>
          <a:xfrm>
            <a:off x="1554480" y="365760"/>
            <a:ext cx="4023360" cy="914400"/>
          </a:xfrm>
          <a:prstGeom prst="rect">
            <a:avLst/>
          </a:prstGeom>
          <a:noFill/>
          <a:ln/>
        </p:spPr>
        <p:txBody>
          <a:bodyPr wrap="square" lIns="0" tIns="0" rIns="0" bIns="0" rtlCol="0" anchor="ctr"/>
          <a:lstStyle/>
          <a:p>
            <a:pPr indent="0" marL="0">
              <a:buNone/>
            </a:pPr>
            <a:r>
              <a:rPr lang="en-US" sz="1900" b="1" u="sng" dirty="0">
                <a:solidFill>
                  <a:schemeClr val="bg1"/>
                </a:solidFill>
                <a:latin typeface="+mj-lt" pitchFamily="34" charset="0"/>
                <a:ea typeface="+mj-lt" pitchFamily="34" charset="-122"/>
                <a:cs typeface="+mj-lt" pitchFamily="34" charset="-120"/>
                <a:hlinkClick r:id="rId2" invalidUrl="" action="" tgtFrame="" tooltip="bvmengineering.ac.in" history="1" highlightClick="0" endSnd="0">
                  <a:extLst>
                    <a:ext uri="{A12FA001-AC4F-418D-AE19-62706E023703}">
                      <ahyp:hlinkClr xmlns:ahyp="http://schemas.microsoft.com/office/drawing/2018/hyperlinkcolor" val="tx"/>
                    </a:ext>
                  </a:extLst>
                </a:hlinkClick>
              </a:rPr>
              <a:t>Birla Vishvakarma</a:t>
            </a:r>
            <a:endParaRPr lang="en-US" sz="1900" dirty="0"/>
          </a:p>
          <a:p>
            <a:pPr indent="0" marL="0">
              <a:buNone/>
            </a:pPr>
            <a:r>
              <a:rPr lang="en-US" sz="1900" b="1" u="sng" dirty="0">
                <a:solidFill>
                  <a:schemeClr val="bg1"/>
                </a:solidFill>
                <a:latin typeface="+mj-lt" pitchFamily="34" charset="0"/>
                <a:ea typeface="+mj-lt" pitchFamily="34" charset="-122"/>
                <a:cs typeface="+mj-lt" pitchFamily="34" charset="-120"/>
                <a:hlinkClick r:id="rId2" invalidUrl="" action="" tgtFrame="" tooltip="bvmengineering.ac.in" history="1" highlightClick="0" endSnd="0">
                  <a:extLst>
                    <a:ext uri="{A12FA001-AC4F-418D-AE19-62706E023703}">
                      <ahyp:hlinkClr xmlns:ahyp="http://schemas.microsoft.com/office/drawing/2018/hyperlinkcolor" val="tx"/>
                    </a:ext>
                  </a:extLst>
                </a:hlinkClick>
              </a:rPr>
              <a:t>Mahavidyalaya</a:t>
            </a:r>
            <a:endParaRPr lang="en-US" sz="1900" dirty="0"/>
          </a:p>
        </p:txBody>
      </p:sp>
      <p:sp>
        <p:nvSpPr>
          <p:cNvPr id="11" name="Text 8"/>
          <p:cNvSpPr txBox="1"/>
          <p:nvPr/>
        </p:nvSpPr>
        <p:spPr>
          <a:xfrm>
            <a:off x="457200" y="1463040"/>
            <a:ext cx="5486400" cy="274320"/>
          </a:xfrm>
          <a:prstGeom prst="rect">
            <a:avLst/>
          </a:prstGeom>
          <a:noFill/>
          <a:ln/>
        </p:spPr>
        <p:txBody>
          <a:bodyPr wrap="square" lIns="0" tIns="0" rIns="0" bIns="0" rtlCol="0" anchor="t"/>
          <a:lstStyle/>
          <a:p>
            <a:pPr indent="0" marL="0">
              <a:buNone/>
            </a:pPr>
            <a:r>
              <a:rPr lang="en-US" sz="1400" b="1" spc="300" kern="0" dirty="0">
                <a:solidFill>
                  <a:schemeClr val="accent1"/>
                </a:solidFill>
              </a:rPr>
              <a:t>MACHINE LEARNING MINI PROJECT</a:t>
            </a:r>
            <a:endParaRPr lang="en-US" sz="1400" dirty="0"/>
          </a:p>
        </p:txBody>
      </p:sp>
      <p:sp>
        <p:nvSpPr>
          <p:cNvPr id="12" name="Text 0"/>
          <p:cNvSpPr/>
          <p:nvPr>
            <p:ph idx="100" type="title" hasCustomPrompt="1"/>
          </p:nvPr>
        </p:nvSpPr>
        <p:spPr>
          <a:xfrm>
            <a:off x="457200" y="1691640"/>
            <a:ext cx="5486400" cy="1371600"/>
          </a:xfrm>
          <a:prstGeom prst="rect">
            <a:avLst/>
          </a:prstGeom>
          <a:noFill/>
          <a:ln/>
        </p:spPr>
        <p:txBody>
          <a:bodyPr wrap="square" lIns="0" tIns="0" rIns="0" bIns="0" rtlCol="0" anchor="ctr"/>
          <a:lstStyle/>
          <a:p>
            <a:pPr algn="l" indent="0" marL="0">
              <a:buNone/>
            </a:pPr>
            <a:r>
              <a:rPr lang="en-US" sz="4200" b="1" dirty="0">
                <a:solidFill>
                  <a:schemeClr val="bg1"/>
                </a:solidFill>
              </a:rPr>
              <a:t>Movie Recommendation</a:t>
            </a:r>
            <a:endParaRPr lang="en-US" sz="4200" dirty="0"/>
          </a:p>
        </p:txBody>
      </p:sp>
      <p:sp>
        <p:nvSpPr>
          <p:cNvPr id="13" name="Text 10"/>
          <p:cNvSpPr txBox="1"/>
          <p:nvPr/>
        </p:nvSpPr>
        <p:spPr>
          <a:xfrm>
            <a:off x="457200" y="3108960"/>
            <a:ext cx="5303520" cy="365760"/>
          </a:xfrm>
          <a:prstGeom prst="rect">
            <a:avLst/>
          </a:prstGeom>
          <a:noFill/>
          <a:ln/>
        </p:spPr>
        <p:txBody>
          <a:bodyPr wrap="square" lIns="0" tIns="0" rIns="0" bIns="0" rtlCol="0" anchor="ctr"/>
          <a:lstStyle/>
          <a:p>
            <a:pPr indent="0" marL="0">
              <a:buNone/>
            </a:pPr>
            <a:r>
              <a:rPr lang="en-US" sz="1700" dirty="0">
                <a:solidFill>
                  <a:schemeClr val="bg2"/>
                </a:solidFill>
              </a:rPr>
              <a:t>Because you liked Inception, you may love these</a:t>
            </a:r>
            <a:endParaRPr lang="en-US" sz="1700" dirty="0"/>
          </a:p>
        </p:txBody>
      </p:sp>
      <p:sp>
        <p:nvSpPr>
          <p:cNvPr id="14" name="card"/>
          <p:cNvSpPr/>
          <p:nvPr/>
        </p:nvSpPr>
        <p:spPr>
          <a:xfrm>
            <a:off x="457200" y="3611880"/>
            <a:ext cx="5303520" cy="1143000"/>
          </a:xfrm>
          <a:prstGeom prst="roundRect">
            <a:avLst>
              <a:gd name="adj" fmla="val 9600"/>
            </a:avLst>
          </a:prstGeom>
          <a:solidFill>
            <a:schemeClr val="accent6"/>
          </a:solidFill>
          <a:ln w="12700">
            <a:solidFill>
              <a:schemeClr val="accent6"/>
            </a:solidFill>
            <a:prstDash val="solid"/>
          </a:ln>
        </p:spPr>
      </p:sp>
      <p:sp>
        <p:nvSpPr>
          <p:cNvPr id="15" name="Text 12"/>
          <p:cNvSpPr txBox="1"/>
          <p:nvPr/>
        </p:nvSpPr>
        <p:spPr>
          <a:xfrm>
            <a:off x="685800" y="3703320"/>
            <a:ext cx="2377440" cy="457200"/>
          </a:xfrm>
          <a:prstGeom prst="rect">
            <a:avLst/>
          </a:prstGeom>
          <a:noFill/>
          <a:ln/>
        </p:spPr>
        <p:txBody>
          <a:bodyPr wrap="square" lIns="0" tIns="0" rIns="0" bIns="0" rtlCol="0" anchor="ctr"/>
          <a:lstStyle/>
          <a:p>
            <a:pPr indent="0" marL="0">
              <a:buNone/>
            </a:pPr>
            <a:r>
              <a:rPr lang="en-US" sz="1200" dirty="0">
                <a:solidFill>
                  <a:schemeClr val="bg2"/>
                </a:solidFill>
              </a:rPr>
              <a:t>Name</a:t>
            </a:r>
            <a:endParaRPr lang="en-US" sz="1600" dirty="0"/>
          </a:p>
          <a:p>
            <a:pPr indent="0" marL="0">
              <a:buNone/>
            </a:pPr>
            <a:r>
              <a:rPr lang="en-US" sz="1700" b="1" dirty="0">
                <a:solidFill>
                  <a:schemeClr val="bg1"/>
                </a:solidFill>
              </a:rPr>
              <a:t>Prit Patel</a:t>
            </a:r>
            <a:endParaRPr lang="en-US" sz="1600" dirty="0"/>
          </a:p>
        </p:txBody>
      </p:sp>
      <p:sp>
        <p:nvSpPr>
          <p:cNvPr id="16" name="Text 13"/>
          <p:cNvSpPr txBox="1"/>
          <p:nvPr/>
        </p:nvSpPr>
        <p:spPr>
          <a:xfrm>
            <a:off x="3246120" y="3703320"/>
            <a:ext cx="2377440" cy="457200"/>
          </a:xfrm>
          <a:prstGeom prst="rect">
            <a:avLst/>
          </a:prstGeom>
          <a:noFill/>
          <a:ln/>
        </p:spPr>
        <p:txBody>
          <a:bodyPr wrap="square" lIns="0" tIns="0" rIns="0" bIns="0" rtlCol="0" anchor="ctr"/>
          <a:lstStyle/>
          <a:p>
            <a:pPr indent="0" marL="0">
              <a:buNone/>
            </a:pPr>
            <a:r>
              <a:rPr lang="en-US" sz="1200" dirty="0">
                <a:solidFill>
                  <a:schemeClr val="bg2"/>
                </a:solidFill>
              </a:rPr>
              <a:t>ID No</a:t>
            </a:r>
            <a:endParaRPr lang="en-US" sz="1600" dirty="0"/>
          </a:p>
          <a:p>
            <a:pPr indent="0" marL="0">
              <a:buNone/>
            </a:pPr>
            <a:r>
              <a:rPr lang="en-US" sz="1700" b="1" dirty="0">
                <a:solidFill>
                  <a:schemeClr val="bg1"/>
                </a:solidFill>
              </a:rPr>
              <a:t>23IT408</a:t>
            </a:r>
            <a:endParaRPr lang="en-US" sz="1600" dirty="0"/>
          </a:p>
        </p:txBody>
      </p:sp>
      <p:sp>
        <p:nvSpPr>
          <p:cNvPr id="17" name="Text 14"/>
          <p:cNvSpPr txBox="1"/>
          <p:nvPr/>
        </p:nvSpPr>
        <p:spPr>
          <a:xfrm>
            <a:off x="685800" y="4206240"/>
            <a:ext cx="2377440" cy="457200"/>
          </a:xfrm>
          <a:prstGeom prst="rect">
            <a:avLst/>
          </a:prstGeom>
          <a:noFill/>
          <a:ln/>
        </p:spPr>
        <p:txBody>
          <a:bodyPr wrap="square" lIns="0" tIns="0" rIns="0" bIns="0" rtlCol="0" anchor="ctr"/>
          <a:lstStyle/>
          <a:p>
            <a:pPr indent="0" marL="0">
              <a:buNone/>
            </a:pPr>
            <a:r>
              <a:rPr lang="en-US" sz="1200" dirty="0">
                <a:solidFill>
                  <a:schemeClr val="bg2"/>
                </a:solidFill>
              </a:rPr>
              <a:t>Subject Code</a:t>
            </a:r>
            <a:endParaRPr lang="en-US" sz="1600" dirty="0"/>
          </a:p>
          <a:p>
            <a:pPr indent="0" marL="0">
              <a:buNone/>
            </a:pPr>
            <a:r>
              <a:rPr lang="en-US" sz="1700" b="1" dirty="0">
                <a:solidFill>
                  <a:schemeClr val="bg1"/>
                </a:solidFill>
              </a:rPr>
              <a:t>4IT47</a:t>
            </a:r>
            <a:endParaRPr lang="en-US" sz="1600" dirty="0"/>
          </a:p>
        </p:txBody>
      </p:sp>
      <p:sp>
        <p:nvSpPr>
          <p:cNvPr id="18" name="Text 15"/>
          <p:cNvSpPr txBox="1"/>
          <p:nvPr/>
        </p:nvSpPr>
        <p:spPr>
          <a:xfrm>
            <a:off x="3246120" y="4206240"/>
            <a:ext cx="2377440" cy="457200"/>
          </a:xfrm>
          <a:prstGeom prst="rect">
            <a:avLst/>
          </a:prstGeom>
          <a:noFill/>
          <a:ln/>
        </p:spPr>
        <p:txBody>
          <a:bodyPr wrap="square" lIns="0" tIns="0" rIns="0" bIns="0" rtlCol="0" anchor="ctr"/>
          <a:lstStyle/>
          <a:p>
            <a:pPr indent="0" marL="0">
              <a:buNone/>
            </a:pPr>
            <a:r>
              <a:rPr lang="en-US" sz="1200" dirty="0">
                <a:solidFill>
                  <a:schemeClr val="bg2"/>
                </a:solidFill>
              </a:rPr>
              <a:t>Subject</a:t>
            </a:r>
            <a:endParaRPr lang="en-US" sz="1600" dirty="0"/>
          </a:p>
          <a:p>
            <a:pPr indent="0" marL="0">
              <a:buNone/>
            </a:pPr>
            <a:r>
              <a:rPr lang="en-US" sz="1700" b="1" dirty="0">
                <a:solidFill>
                  <a:schemeClr val="bg1"/>
                </a:solidFill>
              </a:rPr>
              <a:t>Machine Learning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Problem and Objectives</a:t>
            </a:r>
            <a:endParaRPr lang="en-US" sz="3600" dirty="0"/>
          </a:p>
        </p:txBody>
      </p:sp>
      <p:sp>
        <p:nvSpPr>
          <p:cNvPr id="3" name="card"/>
          <p:cNvSpPr/>
          <p:nvPr/>
        </p:nvSpPr>
        <p:spPr>
          <a:xfrm>
            <a:off x="457200" y="1280160"/>
            <a:ext cx="3931920" cy="3291840"/>
          </a:xfrm>
          <a:prstGeom prst="roundRect">
            <a:avLst>
              <a:gd name="adj" fmla="val 3333"/>
            </a:avLst>
          </a:prstGeom>
          <a:solidFill>
            <a:schemeClr val="bg2"/>
          </a:solidFill>
          <a:ln w="12700">
            <a:solidFill>
              <a:schemeClr val="bg2"/>
            </a:solidFill>
            <a:prstDash val="solid"/>
          </a:ln>
        </p:spPr>
      </p:sp>
      <p:sp>
        <p:nvSpPr>
          <p:cNvPr id="4" name="Text 2"/>
          <p:cNvSpPr txBox="1"/>
          <p:nvPr/>
        </p:nvSpPr>
        <p:spPr>
          <a:xfrm>
            <a:off x="685800" y="1463040"/>
            <a:ext cx="347472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The Problem</a:t>
            </a:r>
            <a:endParaRPr lang="en-US" sz="2000" dirty="0"/>
          </a:p>
        </p:txBody>
      </p:sp>
      <p:sp>
        <p:nvSpPr>
          <p:cNvPr id="5" name="Text 3"/>
          <p:cNvSpPr txBox="1"/>
          <p:nvPr/>
        </p:nvSpPr>
        <p:spPr>
          <a:xfrm>
            <a:off x="685800" y="1920240"/>
            <a:ext cx="3474720" cy="1371600"/>
          </a:xfrm>
          <a:prstGeom prst="rect">
            <a:avLst/>
          </a:prstGeom>
          <a:noFill/>
          <a:ln/>
        </p:spPr>
        <p:txBody>
          <a:bodyPr wrap="square" lIns="0" tIns="0" rIns="0" bIns="0" rtlCol="0" anchor="t"/>
          <a:lstStyle/>
          <a:p>
            <a:pPr indent="0" marL="0">
              <a:buNone/>
            </a:pPr>
            <a:r>
              <a:rPr lang="en-US" sz="1600" dirty="0">
                <a:solidFill>
                  <a:schemeClr val="tx1"/>
                </a:solidFill>
              </a:rPr>
              <a:t>Thousands of movies, too much choice. A recommender is like a shopkeeper who knows your taste.</a:t>
            </a:r>
            <a:endParaRPr lang="en-US" sz="1600" dirty="0"/>
          </a:p>
        </p:txBody>
      </p:sp>
      <p:sp>
        <p:nvSpPr>
          <p:cNvPr id="6" name="Text 4"/>
          <p:cNvSpPr txBox="1"/>
          <p:nvPr/>
        </p:nvSpPr>
        <p:spPr>
          <a:xfrm>
            <a:off x="685800" y="3383280"/>
            <a:ext cx="1371600" cy="914400"/>
          </a:xfrm>
          <a:prstGeom prst="rect">
            <a:avLst/>
          </a:prstGeom>
          <a:noFill/>
          <a:ln/>
        </p:spPr>
        <p:txBody>
          <a:bodyPr wrap="square" lIns="0" tIns="0" rIns="0" bIns="0" rtlCol="0" anchor="ctr"/>
          <a:lstStyle/>
          <a:p>
            <a:pPr indent="0" marL="0">
              <a:buNone/>
            </a:pPr>
            <a:r>
              <a:rPr lang="en-US" sz="5400" b="1" dirty="0">
                <a:solidFill>
                  <a:schemeClr val="accent2"/>
                </a:solidFill>
                <a:latin typeface="+mj-lt" pitchFamily="34" charset="0"/>
                <a:ea typeface="+mj-lt" pitchFamily="34" charset="-122"/>
                <a:cs typeface="+mj-lt" pitchFamily="34" charset="-120"/>
              </a:rPr>
              <a:t>110</a:t>
            </a:r>
            <a:endParaRPr lang="en-US" sz="5400" dirty="0"/>
          </a:p>
        </p:txBody>
      </p:sp>
      <p:sp>
        <p:nvSpPr>
          <p:cNvPr id="7" name="Text 5"/>
          <p:cNvSpPr txBox="1"/>
          <p:nvPr/>
        </p:nvSpPr>
        <p:spPr>
          <a:xfrm>
            <a:off x="2103120" y="3383280"/>
            <a:ext cx="2103120" cy="914400"/>
          </a:xfrm>
          <a:prstGeom prst="rect">
            <a:avLst/>
          </a:prstGeom>
          <a:noFill/>
          <a:ln/>
        </p:spPr>
        <p:txBody>
          <a:bodyPr wrap="square" lIns="0" tIns="0" rIns="0" bIns="0" rtlCol="0" anchor="ctr"/>
          <a:lstStyle/>
          <a:p>
            <a:pPr indent="0" marL="0">
              <a:buNone/>
            </a:pPr>
            <a:r>
              <a:rPr lang="en-US" sz="1600" dirty="0">
                <a:solidFill>
                  <a:schemeClr val="accent5"/>
                </a:solidFill>
              </a:rPr>
              <a:t>movies in</a:t>
            </a:r>
            <a:endParaRPr lang="en-US" sz="1600" dirty="0"/>
          </a:p>
          <a:p>
            <a:pPr indent="0" marL="0">
              <a:buNone/>
            </a:pPr>
            <a:r>
              <a:rPr lang="en-US" sz="1600" dirty="0">
                <a:solidFill>
                  <a:schemeClr val="accent5"/>
                </a:solidFill>
              </a:rPr>
              <a:t>our dataset</a:t>
            </a:r>
            <a:endParaRPr lang="en-US" sz="1600" dirty="0"/>
          </a:p>
        </p:txBody>
      </p:sp>
      <p:sp>
        <p:nvSpPr>
          <p:cNvPr id="8" name="Text 6"/>
          <p:cNvSpPr txBox="1"/>
          <p:nvPr/>
        </p:nvSpPr>
        <p:spPr>
          <a:xfrm>
            <a:off x="4846320" y="1280160"/>
            <a:ext cx="384048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Objectives</a:t>
            </a:r>
            <a:endParaRPr lang="en-US" sz="2000" dirty="0"/>
          </a:p>
        </p:txBody>
      </p:sp>
      <p:sp>
        <p:nvSpPr>
          <p:cNvPr id="9" name="card"/>
          <p:cNvSpPr/>
          <p:nvPr/>
        </p:nvSpPr>
        <p:spPr>
          <a:xfrm>
            <a:off x="4846320" y="1783080"/>
            <a:ext cx="3840480" cy="822960"/>
          </a:xfrm>
          <a:prstGeom prst="roundRect">
            <a:avLst>
              <a:gd name="adj" fmla="val 13333"/>
            </a:avLst>
          </a:prstGeom>
          <a:solidFill>
            <a:schemeClr val="bg2"/>
          </a:solidFill>
          <a:ln w="12700">
            <a:solidFill>
              <a:schemeClr val="bg2"/>
            </a:solidFill>
            <a:prstDash val="solid"/>
          </a:ln>
        </p:spPr>
      </p:sp>
      <p:sp>
        <p:nvSpPr>
          <p:cNvPr id="10" name="badge"/>
          <p:cNvSpPr/>
          <p:nvPr/>
        </p:nvSpPr>
        <p:spPr>
          <a:xfrm>
            <a:off x="5029200" y="1920240"/>
            <a:ext cx="548640" cy="548640"/>
          </a:xfrm>
          <a:prstGeom prst="ellipse">
            <a:avLst/>
          </a:prstGeom>
          <a:solidFill>
            <a:schemeClr val="accent2"/>
          </a:solidFill>
          <a:ln w="12700">
            <a:solidFill>
              <a:schemeClr val="accent2"/>
            </a:solidFill>
            <a:prstDash val="solid"/>
          </a:ln>
        </p:spPr>
      </p:sp>
      <p:sp>
        <p:nvSpPr>
          <p:cNvPr id="11" name="Text 9"/>
          <p:cNvSpPr txBox="1"/>
          <p:nvPr/>
        </p:nvSpPr>
        <p:spPr>
          <a:xfrm>
            <a:off x="502920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2" name="Text 10"/>
          <p:cNvSpPr txBox="1"/>
          <p:nvPr/>
        </p:nvSpPr>
        <p:spPr>
          <a:xfrm>
            <a:off x="5760720" y="1783080"/>
            <a:ext cx="2834640" cy="822960"/>
          </a:xfrm>
          <a:prstGeom prst="rect">
            <a:avLst/>
          </a:prstGeom>
          <a:noFill/>
          <a:ln/>
        </p:spPr>
        <p:txBody>
          <a:bodyPr wrap="square" lIns="0" tIns="0" rIns="0" bIns="0" rtlCol="0" anchor="ctr"/>
          <a:lstStyle/>
          <a:p>
            <a:pPr indent="0" marL="0">
              <a:buNone/>
            </a:pPr>
            <a:r>
              <a:rPr lang="en-US" sz="1800" dirty="0">
                <a:solidFill>
                  <a:schemeClr val="tx1"/>
                </a:solidFill>
              </a:rPr>
              <a:t>Suggest similar movies</a:t>
            </a:r>
            <a:endParaRPr lang="en-US" sz="1800" dirty="0"/>
          </a:p>
        </p:txBody>
      </p:sp>
      <p:sp>
        <p:nvSpPr>
          <p:cNvPr id="13" name="card"/>
          <p:cNvSpPr/>
          <p:nvPr/>
        </p:nvSpPr>
        <p:spPr>
          <a:xfrm>
            <a:off x="4846320" y="2743200"/>
            <a:ext cx="3840480" cy="822960"/>
          </a:xfrm>
          <a:prstGeom prst="roundRect">
            <a:avLst>
              <a:gd name="adj" fmla="val 13333"/>
            </a:avLst>
          </a:prstGeom>
          <a:solidFill>
            <a:schemeClr val="bg2"/>
          </a:solidFill>
          <a:ln w="12700">
            <a:solidFill>
              <a:schemeClr val="bg2"/>
            </a:solidFill>
            <a:prstDash val="solid"/>
          </a:ln>
        </p:spPr>
      </p:sp>
      <p:sp>
        <p:nvSpPr>
          <p:cNvPr id="14" name="badge"/>
          <p:cNvSpPr/>
          <p:nvPr/>
        </p:nvSpPr>
        <p:spPr>
          <a:xfrm>
            <a:off x="5029200" y="2880360"/>
            <a:ext cx="548640" cy="548640"/>
          </a:xfrm>
          <a:prstGeom prst="ellipse">
            <a:avLst/>
          </a:prstGeom>
          <a:solidFill>
            <a:schemeClr val="accent3"/>
          </a:solidFill>
          <a:ln w="12700">
            <a:solidFill>
              <a:schemeClr val="accent3"/>
            </a:solidFill>
            <a:prstDash val="solid"/>
          </a:ln>
        </p:spPr>
      </p:sp>
      <p:sp>
        <p:nvSpPr>
          <p:cNvPr id="15" name="Text 13"/>
          <p:cNvSpPr txBox="1"/>
          <p:nvPr/>
        </p:nvSpPr>
        <p:spPr>
          <a:xfrm>
            <a:off x="5029200" y="2880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6" name="Text 14"/>
          <p:cNvSpPr txBox="1"/>
          <p:nvPr/>
        </p:nvSpPr>
        <p:spPr>
          <a:xfrm>
            <a:off x="5760720" y="2743200"/>
            <a:ext cx="2834640" cy="822960"/>
          </a:xfrm>
          <a:prstGeom prst="rect">
            <a:avLst/>
          </a:prstGeom>
          <a:noFill/>
          <a:ln/>
        </p:spPr>
        <p:txBody>
          <a:bodyPr wrap="square" lIns="0" tIns="0" rIns="0" bIns="0" rtlCol="0" anchor="ctr"/>
          <a:lstStyle/>
          <a:p>
            <a:pPr indent="0" marL="0">
              <a:buNone/>
            </a:pPr>
            <a:r>
              <a:rPr lang="en-US" sz="1800" dirty="0">
                <a:solidFill>
                  <a:schemeClr val="tx1"/>
                </a:solidFill>
              </a:rPr>
              <a:t>Apply KNN and K-Means</a:t>
            </a:r>
            <a:endParaRPr lang="en-US" sz="1800" dirty="0"/>
          </a:p>
        </p:txBody>
      </p:sp>
      <p:sp>
        <p:nvSpPr>
          <p:cNvPr id="17" name="card"/>
          <p:cNvSpPr/>
          <p:nvPr/>
        </p:nvSpPr>
        <p:spPr>
          <a:xfrm>
            <a:off x="4846320" y="3703320"/>
            <a:ext cx="3840480" cy="822960"/>
          </a:xfrm>
          <a:prstGeom prst="roundRect">
            <a:avLst>
              <a:gd name="adj" fmla="val 13333"/>
            </a:avLst>
          </a:prstGeom>
          <a:solidFill>
            <a:schemeClr val="bg2"/>
          </a:solidFill>
          <a:ln w="12700">
            <a:solidFill>
              <a:schemeClr val="bg2"/>
            </a:solidFill>
            <a:prstDash val="solid"/>
          </a:ln>
        </p:spPr>
      </p:sp>
      <p:sp>
        <p:nvSpPr>
          <p:cNvPr id="18" name="badge"/>
          <p:cNvSpPr/>
          <p:nvPr/>
        </p:nvSpPr>
        <p:spPr>
          <a:xfrm>
            <a:off x="5029200" y="3840480"/>
            <a:ext cx="548640" cy="548640"/>
          </a:xfrm>
          <a:prstGeom prst="ellipse">
            <a:avLst/>
          </a:prstGeom>
          <a:solidFill>
            <a:schemeClr val="accent4"/>
          </a:solidFill>
          <a:ln w="12700">
            <a:solidFill>
              <a:schemeClr val="accent4"/>
            </a:solidFill>
            <a:prstDash val="solid"/>
          </a:ln>
        </p:spPr>
      </p:sp>
      <p:sp>
        <p:nvSpPr>
          <p:cNvPr id="19" name="Text 17"/>
          <p:cNvSpPr txBox="1"/>
          <p:nvPr/>
        </p:nvSpPr>
        <p:spPr>
          <a:xfrm>
            <a:off x="5029200" y="3840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8"/>
          <p:cNvSpPr txBox="1"/>
          <p:nvPr/>
        </p:nvSpPr>
        <p:spPr>
          <a:xfrm>
            <a:off x="5760720" y="3703320"/>
            <a:ext cx="2834640" cy="822960"/>
          </a:xfrm>
          <a:prstGeom prst="rect">
            <a:avLst/>
          </a:prstGeom>
          <a:noFill/>
          <a:ln/>
        </p:spPr>
        <p:txBody>
          <a:bodyPr wrap="square" lIns="0" tIns="0" rIns="0" bIns="0" rtlCol="0" anchor="ctr"/>
          <a:lstStyle/>
          <a:p>
            <a:pPr indent="0" marL="0">
              <a:buNone/>
            </a:pPr>
            <a:r>
              <a:rPr lang="en-US" sz="1800" dirty="0">
                <a:solidFill>
                  <a:schemeClr val="tx1"/>
                </a:solidFill>
              </a:rPr>
              <a:t>Build a simple, clear UI</a:t>
            </a:r>
            <a:endParaRPr lang="en-US" sz="18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Real-Life Use Cases</a:t>
            </a:r>
            <a:endParaRPr lang="en-US" sz="3600" dirty="0"/>
          </a:p>
        </p:txBody>
      </p:sp>
      <p:sp>
        <p:nvSpPr>
          <p:cNvPr id="3" name="card"/>
          <p:cNvSpPr/>
          <p:nvPr/>
        </p:nvSpPr>
        <p:spPr>
          <a:xfrm>
            <a:off x="457200" y="1280160"/>
            <a:ext cx="4023360" cy="1463040"/>
          </a:xfrm>
          <a:prstGeom prst="roundRect">
            <a:avLst>
              <a:gd name="adj" fmla="val 7500"/>
            </a:avLst>
          </a:prstGeom>
          <a:solidFill>
            <a:schemeClr val="bg2"/>
          </a:solidFill>
          <a:ln w="12700">
            <a:solidFill>
              <a:schemeClr val="bg2"/>
            </a:solidFill>
            <a:prstDash val="solid"/>
          </a:ln>
        </p:spPr>
      </p:sp>
      <p:sp>
        <p:nvSpPr>
          <p:cNvPr id="4" name="badge"/>
          <p:cNvSpPr/>
          <p:nvPr/>
        </p:nvSpPr>
        <p:spPr>
          <a:xfrm>
            <a:off x="685800" y="1737360"/>
            <a:ext cx="548640" cy="548640"/>
          </a:xfrm>
          <a:prstGeom prst="ellipse">
            <a:avLst/>
          </a:prstGeom>
          <a:solidFill>
            <a:schemeClr val="accent3"/>
          </a:solidFill>
          <a:ln w="12700">
            <a:solidFill>
              <a:schemeClr val="accent3"/>
            </a:solidFill>
            <a:prstDash val="solid"/>
          </a:ln>
        </p:spPr>
      </p:sp>
      <p:sp>
        <p:nvSpPr>
          <p:cNvPr id="5" name="Text 3"/>
          <p:cNvSpPr txBox="1"/>
          <p:nvPr/>
        </p:nvSpPr>
        <p:spPr>
          <a:xfrm>
            <a:off x="685800"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N</a:t>
            </a:r>
            <a:endParaRPr lang="en-US" sz="1800" dirty="0"/>
          </a:p>
        </p:txBody>
      </p:sp>
      <p:sp>
        <p:nvSpPr>
          <p:cNvPr id="6" name="Text 4"/>
          <p:cNvSpPr txBox="1"/>
          <p:nvPr/>
        </p:nvSpPr>
        <p:spPr>
          <a:xfrm>
            <a:off x="1417320" y="1554480"/>
            <a:ext cx="2926080" cy="4572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Netflix and Hotstar</a:t>
            </a:r>
            <a:endParaRPr lang="en-US" sz="2000" dirty="0"/>
          </a:p>
        </p:txBody>
      </p:sp>
      <p:sp>
        <p:nvSpPr>
          <p:cNvPr id="7" name="Text 5"/>
          <p:cNvSpPr txBox="1"/>
          <p:nvPr/>
        </p:nvSpPr>
        <p:spPr>
          <a:xfrm>
            <a:off x="1417320" y="2057400"/>
            <a:ext cx="2926080" cy="457200"/>
          </a:xfrm>
          <a:prstGeom prst="rect">
            <a:avLst/>
          </a:prstGeom>
          <a:noFill/>
          <a:ln/>
        </p:spPr>
        <p:txBody>
          <a:bodyPr wrap="square" lIns="0" tIns="0" rIns="0" bIns="0" rtlCol="0" anchor="t"/>
          <a:lstStyle/>
          <a:p>
            <a:pPr indent="0" marL="0">
              <a:buNone/>
            </a:pPr>
            <a:r>
              <a:rPr lang="en-US" sz="1600" dirty="0">
                <a:solidFill>
                  <a:schemeClr val="tx1"/>
                </a:solidFill>
              </a:rPr>
              <a:t>"Because you watched..." rows</a:t>
            </a:r>
            <a:endParaRPr lang="en-US" sz="1600" dirty="0"/>
          </a:p>
        </p:txBody>
      </p:sp>
      <p:sp>
        <p:nvSpPr>
          <p:cNvPr id="8" name="card"/>
          <p:cNvSpPr/>
          <p:nvPr/>
        </p:nvSpPr>
        <p:spPr>
          <a:xfrm>
            <a:off x="4663440" y="1280160"/>
            <a:ext cx="4023360" cy="1463040"/>
          </a:xfrm>
          <a:prstGeom prst="roundRect">
            <a:avLst>
              <a:gd name="adj" fmla="val 7500"/>
            </a:avLst>
          </a:prstGeom>
          <a:solidFill>
            <a:schemeClr val="bg2"/>
          </a:solidFill>
          <a:ln w="12700">
            <a:solidFill>
              <a:schemeClr val="bg2"/>
            </a:solidFill>
            <a:prstDash val="solid"/>
          </a:ln>
        </p:spPr>
      </p:sp>
      <p:sp>
        <p:nvSpPr>
          <p:cNvPr id="9" name="badge"/>
          <p:cNvSpPr/>
          <p:nvPr/>
        </p:nvSpPr>
        <p:spPr>
          <a:xfrm>
            <a:off x="4892040" y="1737360"/>
            <a:ext cx="548640" cy="548640"/>
          </a:xfrm>
          <a:prstGeom prst="ellipse">
            <a:avLst/>
          </a:prstGeom>
          <a:solidFill>
            <a:schemeClr val="accent2"/>
          </a:solidFill>
          <a:ln w="12700">
            <a:solidFill>
              <a:schemeClr val="accent2"/>
            </a:solidFill>
            <a:prstDash val="solid"/>
          </a:ln>
        </p:spPr>
      </p:sp>
      <p:sp>
        <p:nvSpPr>
          <p:cNvPr id="10" name="Text 8"/>
          <p:cNvSpPr txBox="1"/>
          <p:nvPr/>
        </p:nvSpPr>
        <p:spPr>
          <a:xfrm>
            <a:off x="4892040"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Y</a:t>
            </a:r>
            <a:endParaRPr lang="en-US" sz="1800" dirty="0"/>
          </a:p>
        </p:txBody>
      </p:sp>
      <p:sp>
        <p:nvSpPr>
          <p:cNvPr id="11" name="Text 9"/>
          <p:cNvSpPr txBox="1"/>
          <p:nvPr/>
        </p:nvSpPr>
        <p:spPr>
          <a:xfrm>
            <a:off x="5623560" y="1554480"/>
            <a:ext cx="2926080" cy="4572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YouTube and Spotify</a:t>
            </a:r>
            <a:endParaRPr lang="en-US" sz="2000" dirty="0"/>
          </a:p>
        </p:txBody>
      </p:sp>
      <p:sp>
        <p:nvSpPr>
          <p:cNvPr id="12" name="Text 10"/>
          <p:cNvSpPr txBox="1"/>
          <p:nvPr/>
        </p:nvSpPr>
        <p:spPr>
          <a:xfrm>
            <a:off x="5623560" y="2057400"/>
            <a:ext cx="2926080" cy="457200"/>
          </a:xfrm>
          <a:prstGeom prst="rect">
            <a:avLst/>
          </a:prstGeom>
          <a:noFill/>
          <a:ln/>
        </p:spPr>
        <p:txBody>
          <a:bodyPr wrap="square" lIns="0" tIns="0" rIns="0" bIns="0" rtlCol="0" anchor="t"/>
          <a:lstStyle/>
          <a:p>
            <a:pPr indent="0" marL="0">
              <a:buNone/>
            </a:pPr>
            <a:r>
              <a:rPr lang="en-US" sz="1600" dirty="0">
                <a:solidFill>
                  <a:schemeClr val="tx1"/>
                </a:solidFill>
              </a:rPr>
              <a:t>Next video or song for you</a:t>
            </a:r>
            <a:endParaRPr lang="en-US" sz="1600" dirty="0"/>
          </a:p>
        </p:txBody>
      </p:sp>
      <p:sp>
        <p:nvSpPr>
          <p:cNvPr id="13" name="card"/>
          <p:cNvSpPr/>
          <p:nvPr/>
        </p:nvSpPr>
        <p:spPr>
          <a:xfrm>
            <a:off x="457200" y="2926080"/>
            <a:ext cx="4023360" cy="1463040"/>
          </a:xfrm>
          <a:prstGeom prst="roundRect">
            <a:avLst>
              <a:gd name="adj" fmla="val 7500"/>
            </a:avLst>
          </a:prstGeom>
          <a:solidFill>
            <a:schemeClr val="bg2"/>
          </a:solidFill>
          <a:ln w="12700">
            <a:solidFill>
              <a:schemeClr val="bg2"/>
            </a:solidFill>
            <a:prstDash val="solid"/>
          </a:ln>
        </p:spPr>
      </p:sp>
      <p:sp>
        <p:nvSpPr>
          <p:cNvPr id="14" name="badge"/>
          <p:cNvSpPr/>
          <p:nvPr/>
        </p:nvSpPr>
        <p:spPr>
          <a:xfrm>
            <a:off x="685800" y="338328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685800" y="33832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6" name="Text 14"/>
          <p:cNvSpPr txBox="1"/>
          <p:nvPr/>
        </p:nvSpPr>
        <p:spPr>
          <a:xfrm>
            <a:off x="1417320" y="3200400"/>
            <a:ext cx="2926080" cy="4572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Amazon and Flipkart</a:t>
            </a:r>
            <a:endParaRPr lang="en-US" sz="2000" dirty="0"/>
          </a:p>
        </p:txBody>
      </p:sp>
      <p:sp>
        <p:nvSpPr>
          <p:cNvPr id="17" name="Text 15"/>
          <p:cNvSpPr txBox="1"/>
          <p:nvPr/>
        </p:nvSpPr>
        <p:spPr>
          <a:xfrm>
            <a:off x="1417320" y="3703320"/>
            <a:ext cx="2926080" cy="457200"/>
          </a:xfrm>
          <a:prstGeom prst="rect">
            <a:avLst/>
          </a:prstGeom>
          <a:noFill/>
          <a:ln/>
        </p:spPr>
        <p:txBody>
          <a:bodyPr wrap="square" lIns="0" tIns="0" rIns="0" bIns="0" rtlCol="0" anchor="t"/>
          <a:lstStyle/>
          <a:p>
            <a:pPr indent="0" marL="0">
              <a:buNone/>
            </a:pPr>
            <a:r>
              <a:rPr lang="en-US" sz="1600" dirty="0">
                <a:solidFill>
                  <a:schemeClr val="tx1"/>
                </a:solidFill>
              </a:rPr>
              <a:t>"Customers also viewed"</a:t>
            </a:r>
            <a:endParaRPr lang="en-US" sz="1600" dirty="0"/>
          </a:p>
        </p:txBody>
      </p:sp>
      <p:sp>
        <p:nvSpPr>
          <p:cNvPr id="18" name="card"/>
          <p:cNvSpPr/>
          <p:nvPr/>
        </p:nvSpPr>
        <p:spPr>
          <a:xfrm>
            <a:off x="4663440" y="2926080"/>
            <a:ext cx="4023360" cy="1463040"/>
          </a:xfrm>
          <a:prstGeom prst="roundRect">
            <a:avLst>
              <a:gd name="adj" fmla="val 7500"/>
            </a:avLst>
          </a:prstGeom>
          <a:solidFill>
            <a:schemeClr val="bg2"/>
          </a:solidFill>
          <a:ln w="12700">
            <a:solidFill>
              <a:schemeClr val="bg2"/>
            </a:solidFill>
            <a:prstDash val="solid"/>
          </a:ln>
        </p:spPr>
      </p:sp>
      <p:sp>
        <p:nvSpPr>
          <p:cNvPr id="19" name="badge"/>
          <p:cNvSpPr/>
          <p:nvPr/>
        </p:nvSpPr>
        <p:spPr>
          <a:xfrm>
            <a:off x="4892040" y="3383280"/>
            <a:ext cx="548640" cy="548640"/>
          </a:xfrm>
          <a:prstGeom prst="ellipse">
            <a:avLst/>
          </a:prstGeom>
          <a:solidFill>
            <a:schemeClr val="accent4"/>
          </a:solidFill>
          <a:ln w="12700">
            <a:solidFill>
              <a:schemeClr val="accent4"/>
            </a:solidFill>
            <a:prstDash val="solid"/>
          </a:ln>
        </p:spPr>
      </p:sp>
      <p:sp>
        <p:nvSpPr>
          <p:cNvPr id="20" name="Text 18"/>
          <p:cNvSpPr txBox="1"/>
          <p:nvPr/>
        </p:nvSpPr>
        <p:spPr>
          <a:xfrm>
            <a:off x="4892040" y="33832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J</a:t>
            </a:r>
            <a:endParaRPr lang="en-US" sz="1800" dirty="0"/>
          </a:p>
        </p:txBody>
      </p:sp>
      <p:sp>
        <p:nvSpPr>
          <p:cNvPr id="21" name="Text 19"/>
          <p:cNvSpPr txBox="1"/>
          <p:nvPr/>
        </p:nvSpPr>
        <p:spPr>
          <a:xfrm>
            <a:off x="5623560" y="3200400"/>
            <a:ext cx="2926080" cy="4572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Jobs and Courses</a:t>
            </a:r>
            <a:endParaRPr lang="en-US" sz="2000" dirty="0"/>
          </a:p>
        </p:txBody>
      </p:sp>
      <p:sp>
        <p:nvSpPr>
          <p:cNvPr id="22" name="Text 20"/>
          <p:cNvSpPr txBox="1"/>
          <p:nvPr/>
        </p:nvSpPr>
        <p:spPr>
          <a:xfrm>
            <a:off x="5623560" y="3703320"/>
            <a:ext cx="2926080" cy="457200"/>
          </a:xfrm>
          <a:prstGeom prst="rect">
            <a:avLst/>
          </a:prstGeom>
          <a:noFill/>
          <a:ln/>
        </p:spPr>
        <p:txBody>
          <a:bodyPr wrap="square" lIns="0" tIns="0" rIns="0" bIns="0" rtlCol="0" anchor="t"/>
          <a:lstStyle/>
          <a:p>
            <a:pPr indent="0" marL="0">
              <a:buNone/>
            </a:pPr>
            <a:r>
              <a:rPr lang="en-US" sz="1600" dirty="0">
                <a:solidFill>
                  <a:schemeClr val="tx1"/>
                </a:solidFill>
              </a:rPr>
              <a:t>Matches that fit your profile</a:t>
            </a:r>
            <a:endParaRPr lang="en-US" sz="1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Tech Stack and Dataset</a:t>
            </a:r>
            <a:endParaRPr lang="en-US" sz="3600" dirty="0"/>
          </a:p>
        </p:txBody>
      </p:sp>
      <p:sp>
        <p:nvSpPr>
          <p:cNvPr id="3" name="Text 1"/>
          <p:cNvSpPr txBox="1"/>
          <p:nvPr/>
        </p:nvSpPr>
        <p:spPr>
          <a:xfrm>
            <a:off x="457200" y="1280160"/>
            <a:ext cx="384048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Tools used</a:t>
            </a:r>
            <a:endParaRPr lang="en-US" sz="2000" dirty="0"/>
          </a:p>
        </p:txBody>
      </p:sp>
      <p:sp>
        <p:nvSpPr>
          <p:cNvPr id="4" name="card"/>
          <p:cNvSpPr/>
          <p:nvPr/>
        </p:nvSpPr>
        <p:spPr>
          <a:xfrm>
            <a:off x="457200" y="1783080"/>
            <a:ext cx="3840480" cy="594360"/>
          </a:xfrm>
          <a:prstGeom prst="roundRect">
            <a:avLst>
              <a:gd name="adj" fmla="val 18462"/>
            </a:avLst>
          </a:prstGeom>
          <a:solidFill>
            <a:schemeClr val="bg2"/>
          </a:solidFill>
          <a:ln w="12700">
            <a:solidFill>
              <a:schemeClr val="bg2"/>
            </a:solidFill>
            <a:prstDash val="solid"/>
          </a:ln>
        </p:spPr>
      </p:sp>
      <p:sp>
        <p:nvSpPr>
          <p:cNvPr id="5" name="Text 3"/>
          <p:cNvSpPr txBox="1"/>
          <p:nvPr/>
        </p:nvSpPr>
        <p:spPr>
          <a:xfrm>
            <a:off x="640080" y="1783080"/>
            <a:ext cx="1828800" cy="594360"/>
          </a:xfrm>
          <a:prstGeom prst="rect">
            <a:avLst/>
          </a:prstGeom>
          <a:noFill/>
          <a:ln/>
        </p:spPr>
        <p:txBody>
          <a:bodyPr wrap="square" lIns="0" tIns="0" rIns="0" bIns="0" rtlCol="0" anchor="ctr"/>
          <a:lstStyle/>
          <a:p>
            <a:pPr indent="0" marL="0">
              <a:buNone/>
            </a:pPr>
            <a:r>
              <a:rPr lang="en-US" sz="1700" b="1" dirty="0">
                <a:solidFill>
                  <a:schemeClr val="accent2"/>
                </a:solidFill>
              </a:rPr>
              <a:t>Python</a:t>
            </a:r>
            <a:endParaRPr lang="en-US" sz="1700" dirty="0"/>
          </a:p>
        </p:txBody>
      </p:sp>
      <p:sp>
        <p:nvSpPr>
          <p:cNvPr id="6" name="Text 4"/>
          <p:cNvSpPr txBox="1"/>
          <p:nvPr/>
        </p:nvSpPr>
        <p:spPr>
          <a:xfrm>
            <a:off x="2468880" y="1783080"/>
            <a:ext cx="1737360" cy="594360"/>
          </a:xfrm>
          <a:prstGeom prst="rect">
            <a:avLst/>
          </a:prstGeom>
          <a:noFill/>
          <a:ln/>
        </p:spPr>
        <p:txBody>
          <a:bodyPr wrap="square" lIns="0" tIns="0" rIns="0" bIns="0" rtlCol="0" anchor="ctr"/>
          <a:lstStyle/>
          <a:p>
            <a:pPr indent="0" marL="0">
              <a:buNone/>
            </a:pPr>
            <a:r>
              <a:rPr lang="en-US" sz="1600" dirty="0">
                <a:solidFill>
                  <a:schemeClr val="tx1"/>
                </a:solidFill>
              </a:rPr>
              <a:t>Language</a:t>
            </a:r>
            <a:endParaRPr lang="en-US" sz="1600" dirty="0"/>
          </a:p>
        </p:txBody>
      </p:sp>
      <p:sp>
        <p:nvSpPr>
          <p:cNvPr id="7" name="card"/>
          <p:cNvSpPr/>
          <p:nvPr/>
        </p:nvSpPr>
        <p:spPr>
          <a:xfrm>
            <a:off x="457200" y="2514600"/>
            <a:ext cx="3840480" cy="594360"/>
          </a:xfrm>
          <a:prstGeom prst="roundRect">
            <a:avLst>
              <a:gd name="adj" fmla="val 18462"/>
            </a:avLst>
          </a:prstGeom>
          <a:solidFill>
            <a:schemeClr val="bg2"/>
          </a:solidFill>
          <a:ln w="12700">
            <a:solidFill>
              <a:schemeClr val="bg2"/>
            </a:solidFill>
            <a:prstDash val="solid"/>
          </a:ln>
        </p:spPr>
      </p:sp>
      <p:sp>
        <p:nvSpPr>
          <p:cNvPr id="8" name="Text 6"/>
          <p:cNvSpPr txBox="1"/>
          <p:nvPr/>
        </p:nvSpPr>
        <p:spPr>
          <a:xfrm>
            <a:off x="640080" y="2514600"/>
            <a:ext cx="1828800" cy="594360"/>
          </a:xfrm>
          <a:prstGeom prst="rect">
            <a:avLst/>
          </a:prstGeom>
          <a:noFill/>
          <a:ln/>
        </p:spPr>
        <p:txBody>
          <a:bodyPr wrap="square" lIns="0" tIns="0" rIns="0" bIns="0" rtlCol="0" anchor="ctr"/>
          <a:lstStyle/>
          <a:p>
            <a:pPr indent="0" marL="0">
              <a:buNone/>
            </a:pPr>
            <a:r>
              <a:rPr lang="en-US" sz="1700" b="1" dirty="0">
                <a:solidFill>
                  <a:schemeClr val="accent2"/>
                </a:solidFill>
              </a:rPr>
              <a:t>Pandas, NumPy</a:t>
            </a:r>
            <a:endParaRPr lang="en-US" sz="1700" dirty="0"/>
          </a:p>
        </p:txBody>
      </p:sp>
      <p:sp>
        <p:nvSpPr>
          <p:cNvPr id="9" name="Text 7"/>
          <p:cNvSpPr txBox="1"/>
          <p:nvPr/>
        </p:nvSpPr>
        <p:spPr>
          <a:xfrm>
            <a:off x="2468880" y="2514600"/>
            <a:ext cx="1737360" cy="594360"/>
          </a:xfrm>
          <a:prstGeom prst="rect">
            <a:avLst/>
          </a:prstGeom>
          <a:noFill/>
          <a:ln/>
        </p:spPr>
        <p:txBody>
          <a:bodyPr wrap="square" lIns="0" tIns="0" rIns="0" bIns="0" rtlCol="0" anchor="ctr"/>
          <a:lstStyle/>
          <a:p>
            <a:pPr indent="0" marL="0">
              <a:buNone/>
            </a:pPr>
            <a:r>
              <a:rPr lang="en-US" sz="1600" dirty="0">
                <a:solidFill>
                  <a:schemeClr val="tx1"/>
                </a:solidFill>
              </a:rPr>
              <a:t>Data handling</a:t>
            </a:r>
            <a:endParaRPr lang="en-US" sz="1600" dirty="0"/>
          </a:p>
        </p:txBody>
      </p:sp>
      <p:sp>
        <p:nvSpPr>
          <p:cNvPr id="10" name="card"/>
          <p:cNvSpPr/>
          <p:nvPr/>
        </p:nvSpPr>
        <p:spPr>
          <a:xfrm>
            <a:off x="457200" y="3246120"/>
            <a:ext cx="3840480" cy="594360"/>
          </a:xfrm>
          <a:prstGeom prst="roundRect">
            <a:avLst>
              <a:gd name="adj" fmla="val 18462"/>
            </a:avLst>
          </a:prstGeom>
          <a:solidFill>
            <a:schemeClr val="bg2"/>
          </a:solidFill>
          <a:ln w="12700">
            <a:solidFill>
              <a:schemeClr val="bg2"/>
            </a:solidFill>
            <a:prstDash val="solid"/>
          </a:ln>
        </p:spPr>
      </p:sp>
      <p:sp>
        <p:nvSpPr>
          <p:cNvPr id="11" name="Text 9"/>
          <p:cNvSpPr txBox="1"/>
          <p:nvPr/>
        </p:nvSpPr>
        <p:spPr>
          <a:xfrm>
            <a:off x="640080" y="3246120"/>
            <a:ext cx="1828800" cy="594360"/>
          </a:xfrm>
          <a:prstGeom prst="rect">
            <a:avLst/>
          </a:prstGeom>
          <a:noFill/>
          <a:ln/>
        </p:spPr>
        <p:txBody>
          <a:bodyPr wrap="square" lIns="0" tIns="0" rIns="0" bIns="0" rtlCol="0" anchor="ctr"/>
          <a:lstStyle/>
          <a:p>
            <a:pPr indent="0" marL="0">
              <a:buNone/>
            </a:pPr>
            <a:r>
              <a:rPr lang="en-US" sz="1700" b="1" dirty="0">
                <a:solidFill>
                  <a:schemeClr val="accent2"/>
                </a:solidFill>
              </a:rPr>
              <a:t>scikit-learn</a:t>
            </a:r>
            <a:endParaRPr lang="en-US" sz="1700" dirty="0"/>
          </a:p>
        </p:txBody>
      </p:sp>
      <p:sp>
        <p:nvSpPr>
          <p:cNvPr id="12" name="Text 10"/>
          <p:cNvSpPr txBox="1"/>
          <p:nvPr/>
        </p:nvSpPr>
        <p:spPr>
          <a:xfrm>
            <a:off x="2468880" y="3246120"/>
            <a:ext cx="1737360" cy="594360"/>
          </a:xfrm>
          <a:prstGeom prst="rect">
            <a:avLst/>
          </a:prstGeom>
          <a:noFill/>
          <a:ln/>
        </p:spPr>
        <p:txBody>
          <a:bodyPr wrap="square" lIns="0" tIns="0" rIns="0" bIns="0" rtlCol="0" anchor="ctr"/>
          <a:lstStyle/>
          <a:p>
            <a:pPr indent="0" marL="0">
              <a:buNone/>
            </a:pPr>
            <a:r>
              <a:rPr lang="en-US" sz="1600" dirty="0">
                <a:solidFill>
                  <a:schemeClr val="tx1"/>
                </a:solidFill>
              </a:rPr>
              <a:t>KNN, K-Means</a:t>
            </a:r>
            <a:endParaRPr lang="en-US" sz="1600" dirty="0"/>
          </a:p>
        </p:txBody>
      </p:sp>
      <p:sp>
        <p:nvSpPr>
          <p:cNvPr id="13" name="card"/>
          <p:cNvSpPr/>
          <p:nvPr/>
        </p:nvSpPr>
        <p:spPr>
          <a:xfrm>
            <a:off x="457200" y="3977640"/>
            <a:ext cx="3840480" cy="594360"/>
          </a:xfrm>
          <a:prstGeom prst="roundRect">
            <a:avLst>
              <a:gd name="adj" fmla="val 18462"/>
            </a:avLst>
          </a:prstGeom>
          <a:solidFill>
            <a:schemeClr val="bg2"/>
          </a:solidFill>
          <a:ln w="12700">
            <a:solidFill>
              <a:schemeClr val="bg2"/>
            </a:solidFill>
            <a:prstDash val="solid"/>
          </a:ln>
        </p:spPr>
      </p:sp>
      <p:sp>
        <p:nvSpPr>
          <p:cNvPr id="14" name="Text 12"/>
          <p:cNvSpPr txBox="1"/>
          <p:nvPr/>
        </p:nvSpPr>
        <p:spPr>
          <a:xfrm>
            <a:off x="640080" y="3977640"/>
            <a:ext cx="1828800" cy="594360"/>
          </a:xfrm>
          <a:prstGeom prst="rect">
            <a:avLst/>
          </a:prstGeom>
          <a:noFill/>
          <a:ln/>
        </p:spPr>
        <p:txBody>
          <a:bodyPr wrap="square" lIns="0" tIns="0" rIns="0" bIns="0" rtlCol="0" anchor="ctr"/>
          <a:lstStyle/>
          <a:p>
            <a:pPr indent="0" marL="0">
              <a:buNone/>
            </a:pPr>
            <a:r>
              <a:rPr lang="en-US" sz="1700" b="1" dirty="0">
                <a:solidFill>
                  <a:schemeClr val="accent2"/>
                </a:solidFill>
              </a:rPr>
              <a:t>Streamlit</a:t>
            </a:r>
            <a:endParaRPr lang="en-US" sz="1700" dirty="0"/>
          </a:p>
        </p:txBody>
      </p:sp>
      <p:sp>
        <p:nvSpPr>
          <p:cNvPr id="15" name="Text 13"/>
          <p:cNvSpPr txBox="1"/>
          <p:nvPr/>
        </p:nvSpPr>
        <p:spPr>
          <a:xfrm>
            <a:off x="2468880" y="3977640"/>
            <a:ext cx="1737360" cy="594360"/>
          </a:xfrm>
          <a:prstGeom prst="rect">
            <a:avLst/>
          </a:prstGeom>
          <a:noFill/>
          <a:ln/>
        </p:spPr>
        <p:txBody>
          <a:bodyPr wrap="square" lIns="0" tIns="0" rIns="0" bIns="0" rtlCol="0" anchor="ctr"/>
          <a:lstStyle/>
          <a:p>
            <a:pPr indent="0" marL="0">
              <a:buNone/>
            </a:pPr>
            <a:r>
              <a:rPr lang="en-US" sz="1600" dirty="0">
                <a:solidFill>
                  <a:schemeClr val="tx1"/>
                </a:solidFill>
              </a:rPr>
              <a:t>Web UI</a:t>
            </a:r>
            <a:endParaRPr lang="en-US" sz="1600" dirty="0"/>
          </a:p>
        </p:txBody>
      </p:sp>
      <p:sp>
        <p:nvSpPr>
          <p:cNvPr id="16" name="Text 14"/>
          <p:cNvSpPr txBox="1"/>
          <p:nvPr/>
        </p:nvSpPr>
        <p:spPr>
          <a:xfrm>
            <a:off x="4754880" y="1280160"/>
            <a:ext cx="393192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Dataset: 110 movies</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754880" y="1783080"/>
          <a:ext cx="3931920" cy="914400"/>
        </p:xfrm>
        <a:graphic>
          <a:graphicData uri="http://schemas.openxmlformats.org/drawingml/2006/table">
            <a:tbl>
              <a:tblPr/>
              <a:tblGrid>
                <a:gridCol w="1188720"/>
                <a:gridCol w="2743200"/>
              </a:tblGrid>
              <a:tr h="457200">
                <a:tc>
                  <a:txBody>
                    <a:bodyPr/>
                    <a:lstStyle/>
                    <a:p>
                      <a:pPr indent="0" marL="0">
                        <a:buNone/>
                      </a:pPr>
                      <a:r>
                        <a:rPr lang="en-US" sz="1600" b="1" dirty="0">
                          <a:solidFill>
                            <a:schemeClr val="bg1"/>
                          </a:solidFill>
                        </a:rPr>
                        <a:t>Column</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solidFill>
                      <a:schemeClr val="accent6"/>
                    </a:solidFill>
                  </a:tcPr>
                </a:tc>
                <a:tc>
                  <a:txBody>
                    <a:bodyPr/>
                    <a:lstStyle/>
                    <a:p>
                      <a:pPr indent="0" marL="0">
                        <a:buNone/>
                      </a:pPr>
                      <a:r>
                        <a:rPr lang="en-US" sz="1600" b="1" dirty="0">
                          <a:solidFill>
                            <a:schemeClr val="bg1"/>
                          </a:solidFill>
                        </a:rPr>
                        <a:t>Example</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solidFill>
                      <a:schemeClr val="accent6"/>
                    </a:solidFill>
                  </a:tcPr>
                </a:tc>
              </a:tr>
              <a:tr h="457200">
                <a:tc>
                  <a:txBody>
                    <a:bodyPr/>
                    <a:lstStyle/>
                    <a:p>
                      <a:pPr indent="0" marL="0">
                        <a:buNone/>
                      </a:pPr>
                      <a:r>
                        <a:rPr lang="en-US" sz="1600" dirty="0">
                          <a:solidFill>
                            <a:srgbClr val="0F1B3D"/>
                          </a:solidFill>
                        </a:rPr>
                        <a:t>title</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c>
                  <a:txBody>
                    <a:bodyPr/>
                    <a:lstStyle/>
                    <a:p>
                      <a:pPr indent="0" marL="0">
                        <a:buNone/>
                      </a:pPr>
                      <a:r>
                        <a:rPr lang="en-US" sz="1600" dirty="0">
                          <a:solidFill>
                            <a:srgbClr val="0F1B3D"/>
                          </a:solidFill>
                        </a:rPr>
                        <a:t>Inception</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r>
              <a:tr h="457200">
                <a:tc>
                  <a:txBody>
                    <a:bodyPr/>
                    <a:lstStyle/>
                    <a:p>
                      <a:pPr indent="0" marL="0">
                        <a:buNone/>
                      </a:pPr>
                      <a:r>
                        <a:rPr lang="en-US" sz="1600" dirty="0">
                          <a:solidFill>
                            <a:srgbClr val="0F1B3D"/>
                          </a:solidFill>
                        </a:rPr>
                        <a:t>year</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c>
                  <a:txBody>
                    <a:bodyPr/>
                    <a:lstStyle/>
                    <a:p>
                      <a:pPr indent="0" marL="0">
                        <a:buNone/>
                      </a:pPr>
                      <a:r>
                        <a:rPr lang="en-US" sz="1600" dirty="0">
                          <a:solidFill>
                            <a:srgbClr val="0F1B3D"/>
                          </a:solidFill>
                        </a:rPr>
                        <a:t>2010</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r>
              <a:tr h="457200">
                <a:tc>
                  <a:txBody>
                    <a:bodyPr/>
                    <a:lstStyle/>
                    <a:p>
                      <a:pPr indent="0" marL="0">
                        <a:buNone/>
                      </a:pPr>
                      <a:r>
                        <a:rPr lang="en-US" sz="1600" dirty="0">
                          <a:solidFill>
                            <a:srgbClr val="0F1B3D"/>
                          </a:solidFill>
                        </a:rPr>
                        <a:t>rating</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c>
                  <a:txBody>
                    <a:bodyPr/>
                    <a:lstStyle/>
                    <a:p>
                      <a:pPr indent="0" marL="0">
                        <a:buNone/>
                      </a:pPr>
                      <a:r>
                        <a:rPr lang="en-US" sz="1600" dirty="0">
                          <a:solidFill>
                            <a:srgbClr val="0F1B3D"/>
                          </a:solidFill>
                        </a:rPr>
                        <a:t>8.8</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r>
              <a:tr h="457200">
                <a:tc>
                  <a:txBody>
                    <a:bodyPr/>
                    <a:lstStyle/>
                    <a:p>
                      <a:pPr indent="0" marL="0">
                        <a:buNone/>
                      </a:pPr>
                      <a:r>
                        <a:rPr lang="en-US" sz="1600" dirty="0">
                          <a:solidFill>
                            <a:srgbClr val="0F1B3D"/>
                          </a:solidFill>
                        </a:rPr>
                        <a:t>genres</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c>
                  <a:txBody>
                    <a:bodyPr/>
                    <a:lstStyle/>
                    <a:p>
                      <a:pPr indent="0" marL="0">
                        <a:buNone/>
                      </a:pPr>
                      <a:r>
                        <a:rPr lang="en-US" sz="1600" dirty="0">
                          <a:solidFill>
                            <a:srgbClr val="0F1B3D"/>
                          </a:solidFill>
                        </a:rPr>
                        <a:t>Sci-Fi|Action|Thriller</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r>
              <a:tr h="457200">
                <a:tc>
                  <a:txBody>
                    <a:bodyPr/>
                    <a:lstStyle/>
                    <a:p>
                      <a:pPr indent="0" marL="0">
                        <a:buNone/>
                      </a:pPr>
                      <a:r>
                        <a:rPr lang="en-US" sz="1600" dirty="0">
                          <a:solidFill>
                            <a:srgbClr val="0F1B3D"/>
                          </a:solidFill>
                        </a:rPr>
                        <a:t>tags</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c>
                  <a:txBody>
                    <a:bodyPr/>
                    <a:lstStyle/>
                    <a:p>
                      <a:pPr indent="0" marL="0">
                        <a:buNone/>
                      </a:pPr>
                      <a:r>
                        <a:rPr lang="en-US" sz="1600" dirty="0">
                          <a:solidFill>
                            <a:srgbClr val="0F1B3D"/>
                          </a:solidFill>
                        </a:rPr>
                        <a:t>dream heist mind</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How It Works: System Flow</a:t>
            </a:r>
            <a:endParaRPr lang="en-US" sz="3600" dirty="0"/>
          </a:p>
        </p:txBody>
      </p:sp>
      <p:sp>
        <p:nvSpPr>
          <p:cNvPr id="3" name="flow-box"/>
          <p:cNvSpPr/>
          <p:nvPr/>
        </p:nvSpPr>
        <p:spPr>
          <a:xfrm>
            <a:off x="457200" y="1737360"/>
            <a:ext cx="1188720" cy="1005840"/>
          </a:xfrm>
          <a:prstGeom prst="roundRect">
            <a:avLst>
              <a:gd name="adj" fmla="val 10909"/>
            </a:avLst>
          </a:prstGeom>
          <a:solidFill>
            <a:schemeClr val="accent2"/>
          </a:solidFill>
          <a:ln w="12700">
            <a:solidFill>
              <a:schemeClr val="accent2"/>
            </a:solidFill>
            <a:prstDash val="solid"/>
          </a:ln>
        </p:spPr>
      </p:sp>
      <p:sp>
        <p:nvSpPr>
          <p:cNvPr id="4" name="Text 2"/>
          <p:cNvSpPr txBox="1"/>
          <p:nvPr/>
        </p:nvSpPr>
        <p:spPr>
          <a:xfrm>
            <a:off x="457200" y="1737360"/>
            <a:ext cx="1188720" cy="1005840"/>
          </a:xfrm>
          <a:prstGeom prst="rect">
            <a:avLst/>
          </a:prstGeom>
          <a:noFill/>
          <a:ln/>
        </p:spPr>
        <p:txBody>
          <a:bodyPr wrap="square" lIns="0" tIns="0" rIns="0" bIns="0" rtlCol="0" anchor="ctr"/>
          <a:lstStyle/>
          <a:p>
            <a:pPr algn="ctr" indent="0" marL="0">
              <a:buNone/>
            </a:pPr>
            <a:r>
              <a:rPr lang="en-US" sz="1600" b="1" dirty="0">
                <a:solidFill>
                  <a:schemeClr val="bg1"/>
                </a:solidFill>
              </a:rPr>
              <a:t>Dataset</a:t>
            </a:r>
            <a:endParaRPr lang="en-US" sz="1600" dirty="0"/>
          </a:p>
        </p:txBody>
      </p:sp>
      <p:sp>
        <p:nvSpPr>
          <p:cNvPr id="5" name="Text 3"/>
          <p:cNvSpPr txBox="1"/>
          <p:nvPr/>
        </p:nvSpPr>
        <p:spPr>
          <a:xfrm>
            <a:off x="365760" y="2880360"/>
            <a:ext cx="1371600" cy="457200"/>
          </a:xfrm>
          <a:prstGeom prst="rect">
            <a:avLst/>
          </a:prstGeom>
          <a:noFill/>
          <a:ln/>
        </p:spPr>
        <p:txBody>
          <a:bodyPr wrap="square" lIns="0" tIns="0" rIns="0" bIns="0" rtlCol="0" anchor="t"/>
          <a:lstStyle/>
          <a:p>
            <a:pPr algn="ctr" indent="0" marL="0">
              <a:buNone/>
            </a:pPr>
            <a:r>
              <a:rPr lang="en-US" sz="1300" dirty="0">
                <a:solidFill>
                  <a:schemeClr val="bg2"/>
                </a:solidFill>
              </a:rPr>
              <a:t>110 movies</a:t>
            </a:r>
            <a:endParaRPr lang="en-US" sz="1300" dirty="0"/>
          </a:p>
        </p:txBody>
      </p:sp>
      <p:sp>
        <p:nvSpPr>
          <p:cNvPr id="6" name="flow-arrow"/>
          <p:cNvSpPr/>
          <p:nvPr/>
        </p:nvSpPr>
        <p:spPr>
          <a:xfrm>
            <a:off x="1673352" y="2176272"/>
            <a:ext cx="164592" cy="219456"/>
          </a:xfrm>
          <a:prstGeom prst="rightArrow">
            <a:avLst/>
          </a:prstGeom>
          <a:solidFill>
            <a:schemeClr val="accent5"/>
          </a:solidFill>
          <a:ln w="12700">
            <a:solidFill>
              <a:schemeClr val="accent5"/>
            </a:solidFill>
            <a:prstDash val="solid"/>
          </a:ln>
        </p:spPr>
      </p:sp>
      <p:sp>
        <p:nvSpPr>
          <p:cNvPr id="7" name="flow-box"/>
          <p:cNvSpPr/>
          <p:nvPr/>
        </p:nvSpPr>
        <p:spPr>
          <a:xfrm>
            <a:off x="1865376" y="1737360"/>
            <a:ext cx="1188720" cy="1005840"/>
          </a:xfrm>
          <a:prstGeom prst="roundRect">
            <a:avLst>
              <a:gd name="adj" fmla="val 10909"/>
            </a:avLst>
          </a:prstGeom>
          <a:solidFill>
            <a:schemeClr val="accent2"/>
          </a:solidFill>
          <a:ln w="12700">
            <a:solidFill>
              <a:schemeClr val="accent2"/>
            </a:solidFill>
            <a:prstDash val="solid"/>
          </a:ln>
        </p:spPr>
      </p:sp>
      <p:sp>
        <p:nvSpPr>
          <p:cNvPr id="8" name="Text 6"/>
          <p:cNvSpPr txBox="1"/>
          <p:nvPr/>
        </p:nvSpPr>
        <p:spPr>
          <a:xfrm>
            <a:off x="1865376" y="1737360"/>
            <a:ext cx="1188720" cy="1005840"/>
          </a:xfrm>
          <a:prstGeom prst="rect">
            <a:avLst/>
          </a:prstGeom>
          <a:noFill/>
          <a:ln/>
        </p:spPr>
        <p:txBody>
          <a:bodyPr wrap="square" lIns="0" tIns="0" rIns="0" bIns="0" rtlCol="0" anchor="ctr"/>
          <a:lstStyle/>
          <a:p>
            <a:pPr algn="ctr" indent="0" marL="0">
              <a:buNone/>
            </a:pPr>
            <a:r>
              <a:rPr lang="en-US" sz="1600" b="1" dirty="0">
                <a:solidFill>
                  <a:schemeClr val="bg1"/>
                </a:solidFill>
              </a:rPr>
              <a:t>Features</a:t>
            </a:r>
            <a:endParaRPr lang="en-US" sz="1600" dirty="0"/>
          </a:p>
        </p:txBody>
      </p:sp>
      <p:sp>
        <p:nvSpPr>
          <p:cNvPr id="9" name="Text 7"/>
          <p:cNvSpPr txBox="1"/>
          <p:nvPr/>
        </p:nvSpPr>
        <p:spPr>
          <a:xfrm>
            <a:off x="1773936" y="2880360"/>
            <a:ext cx="1371600" cy="457200"/>
          </a:xfrm>
          <a:prstGeom prst="rect">
            <a:avLst/>
          </a:prstGeom>
          <a:noFill/>
          <a:ln/>
        </p:spPr>
        <p:txBody>
          <a:bodyPr wrap="square" lIns="0" tIns="0" rIns="0" bIns="0" rtlCol="0" anchor="t"/>
          <a:lstStyle/>
          <a:p>
            <a:pPr algn="ctr" indent="0" marL="0">
              <a:buNone/>
            </a:pPr>
            <a:r>
              <a:rPr lang="en-US" sz="1300" dirty="0">
                <a:solidFill>
                  <a:schemeClr val="bg2"/>
                </a:solidFill>
              </a:rPr>
              <a:t>text to numbers</a:t>
            </a:r>
            <a:endParaRPr lang="en-US" sz="1300" dirty="0"/>
          </a:p>
        </p:txBody>
      </p:sp>
      <p:sp>
        <p:nvSpPr>
          <p:cNvPr id="10" name="flow-arrow"/>
          <p:cNvSpPr/>
          <p:nvPr/>
        </p:nvSpPr>
        <p:spPr>
          <a:xfrm>
            <a:off x="3081528" y="2176272"/>
            <a:ext cx="164592" cy="219456"/>
          </a:xfrm>
          <a:prstGeom prst="rightArrow">
            <a:avLst/>
          </a:prstGeom>
          <a:solidFill>
            <a:schemeClr val="accent5"/>
          </a:solidFill>
          <a:ln w="12700">
            <a:solidFill>
              <a:schemeClr val="accent5"/>
            </a:solidFill>
            <a:prstDash val="solid"/>
          </a:ln>
        </p:spPr>
      </p:sp>
      <p:sp>
        <p:nvSpPr>
          <p:cNvPr id="11" name="flow-box"/>
          <p:cNvSpPr/>
          <p:nvPr/>
        </p:nvSpPr>
        <p:spPr>
          <a:xfrm>
            <a:off x="3273552" y="1737360"/>
            <a:ext cx="1188720" cy="1005840"/>
          </a:xfrm>
          <a:prstGeom prst="roundRect">
            <a:avLst>
              <a:gd name="adj" fmla="val 10909"/>
            </a:avLst>
          </a:prstGeom>
          <a:solidFill>
            <a:schemeClr val="accent3"/>
          </a:solidFill>
          <a:ln w="12700">
            <a:solidFill>
              <a:schemeClr val="accent3"/>
            </a:solidFill>
            <a:prstDash val="solid"/>
          </a:ln>
        </p:spPr>
      </p:sp>
      <p:sp>
        <p:nvSpPr>
          <p:cNvPr id="12" name="Text 10"/>
          <p:cNvSpPr txBox="1"/>
          <p:nvPr/>
        </p:nvSpPr>
        <p:spPr>
          <a:xfrm>
            <a:off x="3273552" y="1737360"/>
            <a:ext cx="1188720" cy="1005840"/>
          </a:xfrm>
          <a:prstGeom prst="rect">
            <a:avLst/>
          </a:prstGeom>
          <a:noFill/>
          <a:ln/>
        </p:spPr>
        <p:txBody>
          <a:bodyPr wrap="square" lIns="0" tIns="0" rIns="0" bIns="0" rtlCol="0" anchor="ctr"/>
          <a:lstStyle/>
          <a:p>
            <a:pPr algn="ctr" indent="0" marL="0">
              <a:buNone/>
            </a:pPr>
            <a:r>
              <a:rPr lang="en-US" sz="1600" b="1" dirty="0">
                <a:solidFill>
                  <a:schemeClr val="bg1"/>
                </a:solidFill>
              </a:rPr>
              <a:t>ML Model</a:t>
            </a:r>
            <a:endParaRPr lang="en-US" sz="1600" dirty="0"/>
          </a:p>
        </p:txBody>
      </p:sp>
      <p:sp>
        <p:nvSpPr>
          <p:cNvPr id="13" name="Text 11"/>
          <p:cNvSpPr txBox="1"/>
          <p:nvPr/>
        </p:nvSpPr>
        <p:spPr>
          <a:xfrm>
            <a:off x="3182112" y="2880360"/>
            <a:ext cx="1371600" cy="457200"/>
          </a:xfrm>
          <a:prstGeom prst="rect">
            <a:avLst/>
          </a:prstGeom>
          <a:noFill/>
          <a:ln/>
        </p:spPr>
        <p:txBody>
          <a:bodyPr wrap="square" lIns="0" tIns="0" rIns="0" bIns="0" rtlCol="0" anchor="t"/>
          <a:lstStyle/>
          <a:p>
            <a:pPr algn="ctr" indent="0" marL="0">
              <a:buNone/>
            </a:pPr>
            <a:r>
              <a:rPr lang="en-US" sz="1300" dirty="0">
                <a:solidFill>
                  <a:schemeClr val="bg2"/>
                </a:solidFill>
              </a:rPr>
              <a:t>KNN / K-Means</a:t>
            </a:r>
            <a:endParaRPr lang="en-US" sz="1300" dirty="0"/>
          </a:p>
        </p:txBody>
      </p:sp>
      <p:sp>
        <p:nvSpPr>
          <p:cNvPr id="14" name="flow-arrow"/>
          <p:cNvSpPr/>
          <p:nvPr/>
        </p:nvSpPr>
        <p:spPr>
          <a:xfrm>
            <a:off x="4489704" y="2176272"/>
            <a:ext cx="164592" cy="219456"/>
          </a:xfrm>
          <a:prstGeom prst="rightArrow">
            <a:avLst/>
          </a:prstGeom>
          <a:solidFill>
            <a:schemeClr val="accent5"/>
          </a:solidFill>
          <a:ln w="12700">
            <a:solidFill>
              <a:schemeClr val="accent5"/>
            </a:solidFill>
            <a:prstDash val="solid"/>
          </a:ln>
        </p:spPr>
      </p:sp>
      <p:sp>
        <p:nvSpPr>
          <p:cNvPr id="15" name="flow-box"/>
          <p:cNvSpPr/>
          <p:nvPr/>
        </p:nvSpPr>
        <p:spPr>
          <a:xfrm>
            <a:off x="4681728" y="1737360"/>
            <a:ext cx="1188720" cy="1005840"/>
          </a:xfrm>
          <a:prstGeom prst="roundRect">
            <a:avLst>
              <a:gd name="adj" fmla="val 10909"/>
            </a:avLst>
          </a:prstGeom>
          <a:solidFill>
            <a:schemeClr val="accent3"/>
          </a:solidFill>
          <a:ln w="12700">
            <a:solidFill>
              <a:schemeClr val="accent3"/>
            </a:solidFill>
            <a:prstDash val="solid"/>
          </a:ln>
        </p:spPr>
      </p:sp>
      <p:sp>
        <p:nvSpPr>
          <p:cNvPr id="16" name="Text 14"/>
          <p:cNvSpPr txBox="1"/>
          <p:nvPr/>
        </p:nvSpPr>
        <p:spPr>
          <a:xfrm>
            <a:off x="4681728" y="1737360"/>
            <a:ext cx="1188720" cy="1005840"/>
          </a:xfrm>
          <a:prstGeom prst="rect">
            <a:avLst/>
          </a:prstGeom>
          <a:noFill/>
          <a:ln/>
        </p:spPr>
        <p:txBody>
          <a:bodyPr wrap="square" lIns="0" tIns="0" rIns="0" bIns="0" rtlCol="0" anchor="ctr"/>
          <a:lstStyle/>
          <a:p>
            <a:pPr algn="ctr" indent="0" marL="0">
              <a:buNone/>
            </a:pPr>
            <a:r>
              <a:rPr lang="en-US" sz="1600" b="1" dirty="0">
                <a:solidFill>
                  <a:schemeClr val="bg1"/>
                </a:solidFill>
              </a:rPr>
              <a:t>Distance</a:t>
            </a:r>
            <a:endParaRPr lang="en-US" sz="1600" dirty="0"/>
          </a:p>
        </p:txBody>
      </p:sp>
      <p:sp>
        <p:nvSpPr>
          <p:cNvPr id="17" name="Text 15"/>
          <p:cNvSpPr txBox="1"/>
          <p:nvPr/>
        </p:nvSpPr>
        <p:spPr>
          <a:xfrm>
            <a:off x="4590288" y="2880360"/>
            <a:ext cx="1371600" cy="457200"/>
          </a:xfrm>
          <a:prstGeom prst="rect">
            <a:avLst/>
          </a:prstGeom>
          <a:noFill/>
          <a:ln/>
        </p:spPr>
        <p:txBody>
          <a:bodyPr wrap="square" lIns="0" tIns="0" rIns="0" bIns="0" rtlCol="0" anchor="t"/>
          <a:lstStyle/>
          <a:p>
            <a:pPr algn="ctr" indent="0" marL="0">
              <a:buNone/>
            </a:pPr>
            <a:r>
              <a:rPr lang="en-US" sz="1300" dirty="0">
                <a:solidFill>
                  <a:schemeClr val="bg2"/>
                </a:solidFill>
              </a:rPr>
              <a:t>find similar</a:t>
            </a:r>
            <a:endParaRPr lang="en-US" sz="1300" dirty="0"/>
          </a:p>
        </p:txBody>
      </p:sp>
      <p:sp>
        <p:nvSpPr>
          <p:cNvPr id="18" name="flow-arrow"/>
          <p:cNvSpPr/>
          <p:nvPr/>
        </p:nvSpPr>
        <p:spPr>
          <a:xfrm>
            <a:off x="5897880" y="2176272"/>
            <a:ext cx="164592" cy="219456"/>
          </a:xfrm>
          <a:prstGeom prst="rightArrow">
            <a:avLst/>
          </a:prstGeom>
          <a:solidFill>
            <a:schemeClr val="accent5"/>
          </a:solidFill>
          <a:ln w="12700">
            <a:solidFill>
              <a:schemeClr val="accent5"/>
            </a:solidFill>
            <a:prstDash val="solid"/>
          </a:ln>
        </p:spPr>
      </p:sp>
      <p:sp>
        <p:nvSpPr>
          <p:cNvPr id="19" name="flow-box"/>
          <p:cNvSpPr/>
          <p:nvPr/>
        </p:nvSpPr>
        <p:spPr>
          <a:xfrm>
            <a:off x="6089904" y="1737360"/>
            <a:ext cx="1188720" cy="1005840"/>
          </a:xfrm>
          <a:prstGeom prst="roundRect">
            <a:avLst>
              <a:gd name="adj" fmla="val 10909"/>
            </a:avLst>
          </a:prstGeom>
          <a:solidFill>
            <a:schemeClr val="accent1"/>
          </a:solidFill>
          <a:ln w="12700">
            <a:solidFill>
              <a:schemeClr val="accent1"/>
            </a:solidFill>
            <a:prstDash val="solid"/>
          </a:ln>
        </p:spPr>
      </p:sp>
      <p:sp>
        <p:nvSpPr>
          <p:cNvPr id="20" name="Text 18"/>
          <p:cNvSpPr txBox="1"/>
          <p:nvPr/>
        </p:nvSpPr>
        <p:spPr>
          <a:xfrm>
            <a:off x="6089904" y="1737360"/>
            <a:ext cx="1188720" cy="1005840"/>
          </a:xfrm>
          <a:prstGeom prst="rect">
            <a:avLst/>
          </a:prstGeom>
          <a:noFill/>
          <a:ln/>
        </p:spPr>
        <p:txBody>
          <a:bodyPr wrap="square" lIns="0" tIns="0" rIns="0" bIns="0" rtlCol="0" anchor="ctr"/>
          <a:lstStyle/>
          <a:p>
            <a:pPr algn="ctr" indent="0" marL="0">
              <a:buNone/>
            </a:pPr>
            <a:r>
              <a:rPr lang="en-US" sz="1600" b="1" dirty="0">
                <a:solidFill>
                  <a:schemeClr val="tx1"/>
                </a:solidFill>
              </a:rPr>
              <a:t>Top-N</a:t>
            </a:r>
            <a:endParaRPr lang="en-US" sz="1600" dirty="0"/>
          </a:p>
        </p:txBody>
      </p:sp>
      <p:sp>
        <p:nvSpPr>
          <p:cNvPr id="21" name="Text 19"/>
          <p:cNvSpPr txBox="1"/>
          <p:nvPr/>
        </p:nvSpPr>
        <p:spPr>
          <a:xfrm>
            <a:off x="5998464" y="2880360"/>
            <a:ext cx="1371600" cy="457200"/>
          </a:xfrm>
          <a:prstGeom prst="rect">
            <a:avLst/>
          </a:prstGeom>
          <a:noFill/>
          <a:ln/>
        </p:spPr>
        <p:txBody>
          <a:bodyPr wrap="square" lIns="0" tIns="0" rIns="0" bIns="0" rtlCol="0" anchor="t"/>
          <a:lstStyle/>
          <a:p>
            <a:pPr algn="ctr" indent="0" marL="0">
              <a:buNone/>
            </a:pPr>
            <a:r>
              <a:rPr lang="en-US" sz="1300" dirty="0">
                <a:solidFill>
                  <a:schemeClr val="bg2"/>
                </a:solidFill>
              </a:rPr>
              <a:t>best matches</a:t>
            </a:r>
            <a:endParaRPr lang="en-US" sz="1300" dirty="0"/>
          </a:p>
        </p:txBody>
      </p:sp>
      <p:sp>
        <p:nvSpPr>
          <p:cNvPr id="22" name="flow-arrow"/>
          <p:cNvSpPr/>
          <p:nvPr/>
        </p:nvSpPr>
        <p:spPr>
          <a:xfrm>
            <a:off x="7306056" y="2176272"/>
            <a:ext cx="164592" cy="219456"/>
          </a:xfrm>
          <a:prstGeom prst="rightArrow">
            <a:avLst/>
          </a:prstGeom>
          <a:solidFill>
            <a:schemeClr val="accent5"/>
          </a:solidFill>
          <a:ln w="12700">
            <a:solidFill>
              <a:schemeClr val="accent5"/>
            </a:solidFill>
            <a:prstDash val="solid"/>
          </a:ln>
        </p:spPr>
      </p:sp>
      <p:sp>
        <p:nvSpPr>
          <p:cNvPr id="23" name="flow-box"/>
          <p:cNvSpPr/>
          <p:nvPr/>
        </p:nvSpPr>
        <p:spPr>
          <a:xfrm>
            <a:off x="7498080" y="1737360"/>
            <a:ext cx="1188720" cy="1005840"/>
          </a:xfrm>
          <a:prstGeom prst="roundRect">
            <a:avLst>
              <a:gd name="adj" fmla="val 10909"/>
            </a:avLst>
          </a:prstGeom>
          <a:solidFill>
            <a:schemeClr val="accent4"/>
          </a:solidFill>
          <a:ln w="12700">
            <a:solidFill>
              <a:schemeClr val="accent4"/>
            </a:solidFill>
            <a:prstDash val="solid"/>
          </a:ln>
        </p:spPr>
      </p:sp>
      <p:sp>
        <p:nvSpPr>
          <p:cNvPr id="24" name="Text 22"/>
          <p:cNvSpPr txBox="1"/>
          <p:nvPr/>
        </p:nvSpPr>
        <p:spPr>
          <a:xfrm>
            <a:off x="7498080" y="1737360"/>
            <a:ext cx="1188720" cy="1005840"/>
          </a:xfrm>
          <a:prstGeom prst="rect">
            <a:avLst/>
          </a:prstGeom>
          <a:noFill/>
          <a:ln/>
        </p:spPr>
        <p:txBody>
          <a:bodyPr wrap="square" lIns="0" tIns="0" rIns="0" bIns="0" rtlCol="0" anchor="ctr"/>
          <a:lstStyle/>
          <a:p>
            <a:pPr algn="ctr" indent="0" marL="0">
              <a:buNone/>
            </a:pPr>
            <a:r>
              <a:rPr lang="en-US" sz="1600" b="1" dirty="0">
                <a:solidFill>
                  <a:schemeClr val="bg1"/>
                </a:solidFill>
              </a:rPr>
              <a:t>UI</a:t>
            </a:r>
            <a:endParaRPr lang="en-US" sz="1600" dirty="0"/>
          </a:p>
        </p:txBody>
      </p:sp>
      <p:sp>
        <p:nvSpPr>
          <p:cNvPr id="25" name="Text 23"/>
          <p:cNvSpPr txBox="1"/>
          <p:nvPr/>
        </p:nvSpPr>
        <p:spPr>
          <a:xfrm>
            <a:off x="7406640" y="2880360"/>
            <a:ext cx="1371600" cy="457200"/>
          </a:xfrm>
          <a:prstGeom prst="rect">
            <a:avLst/>
          </a:prstGeom>
          <a:noFill/>
          <a:ln/>
        </p:spPr>
        <p:txBody>
          <a:bodyPr wrap="square" lIns="0" tIns="0" rIns="0" bIns="0" rtlCol="0" anchor="t"/>
          <a:lstStyle/>
          <a:p>
            <a:pPr algn="ctr" indent="0" marL="0">
              <a:buNone/>
            </a:pPr>
            <a:r>
              <a:rPr lang="en-US" sz="1300" dirty="0">
                <a:solidFill>
                  <a:schemeClr val="bg2"/>
                </a:solidFill>
              </a:rPr>
              <a:t>Streamlit</a:t>
            </a:r>
            <a:endParaRPr lang="en-US" sz="1300" dirty="0"/>
          </a:p>
        </p:txBody>
      </p:sp>
      <p:sp>
        <p:nvSpPr>
          <p:cNvPr id="26" name="Text 24"/>
          <p:cNvSpPr txBox="1"/>
          <p:nvPr/>
        </p:nvSpPr>
        <p:spPr>
          <a:xfrm>
            <a:off x="731520" y="3657600"/>
            <a:ext cx="7680960" cy="731520"/>
          </a:xfrm>
          <a:prstGeom prst="rect">
            <a:avLst/>
          </a:prstGeom>
          <a:noFill/>
          <a:ln/>
        </p:spPr>
        <p:txBody>
          <a:bodyPr wrap="square" lIns="0" tIns="0" rIns="0" bIns="0" rtlCol="0" anchor="t"/>
          <a:lstStyle/>
          <a:p>
            <a:pPr algn="ctr" indent="0" marL="0">
              <a:buNone/>
            </a:pPr>
            <a:r>
              <a:rPr lang="en-US" sz="2000" dirty="0">
                <a:solidFill>
                  <a:schemeClr val="bg1"/>
                </a:solidFill>
              </a:rPr>
              <a:t>Pick a movie, the model finds the closest ones, the UI shows them with a match %.</a:t>
            </a:r>
            <a:endParaRPr lang="en-US" sz="20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Feature Engineering</a:t>
            </a:r>
            <a:endParaRPr lang="en-US" sz="3600" dirty="0"/>
          </a:p>
        </p:txBody>
      </p:sp>
      <p:sp>
        <p:nvSpPr>
          <p:cNvPr id="3" name="Text 1"/>
          <p:cNvSpPr txBox="1"/>
          <p:nvPr/>
        </p:nvSpPr>
        <p:spPr>
          <a:xfrm>
            <a:off x="457200" y="1188720"/>
            <a:ext cx="8229600" cy="457200"/>
          </a:xfrm>
          <a:prstGeom prst="rect">
            <a:avLst/>
          </a:prstGeom>
          <a:noFill/>
          <a:ln/>
        </p:spPr>
        <p:txBody>
          <a:bodyPr wrap="square" lIns="0" tIns="0" rIns="0" bIns="0" rtlCol="0" anchor="t"/>
          <a:lstStyle/>
          <a:p>
            <a:pPr indent="0" marL="0">
              <a:buNone/>
            </a:pPr>
            <a:r>
              <a:rPr lang="en-US" sz="1800" dirty="0">
                <a:solidFill>
                  <a:schemeClr val="tx1"/>
                </a:solidFill>
              </a:rPr>
              <a:t>Computers cannot read "Sci-Fi", so each movie becomes a row of numbers.</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8229600" cy="914400"/>
        </p:xfrm>
        <a:graphic>
          <a:graphicData uri="http://schemas.openxmlformats.org/drawingml/2006/table">
            <a:tbl>
              <a:tblPr/>
              <a:tblGrid>
                <a:gridCol w="1188720"/>
                <a:gridCol w="3383280"/>
                <a:gridCol w="3657600"/>
              </a:tblGrid>
              <a:tr h="502920">
                <a:tc>
                  <a:txBody>
                    <a:bodyPr/>
                    <a:lstStyle/>
                    <a:p>
                      <a:pPr indent="0" marL="0">
                        <a:buNone/>
                      </a:pPr>
                      <a:r>
                        <a:rPr lang="en-US" sz="1600" b="1" dirty="0">
                          <a:solidFill>
                            <a:schemeClr val="bg1"/>
                          </a:solidFill>
                        </a:rPr>
                        <a:t>Feature</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solidFill>
                      <a:schemeClr val="accent2"/>
                    </a:solidFill>
                  </a:tcPr>
                </a:tc>
                <a:tc>
                  <a:txBody>
                    <a:bodyPr/>
                    <a:lstStyle/>
                    <a:p>
                      <a:pPr indent="0" marL="0">
                        <a:buNone/>
                      </a:pPr>
                      <a:r>
                        <a:rPr lang="en-US" sz="1600" b="1" dirty="0">
                          <a:solidFill>
                            <a:schemeClr val="bg1"/>
                          </a:solidFill>
                        </a:rPr>
                        <a:t>Method</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solidFill>
                      <a:schemeClr val="accent2"/>
                    </a:solidFill>
                  </a:tcPr>
                </a:tc>
                <a:tc>
                  <a:txBody>
                    <a:bodyPr/>
                    <a:lstStyle/>
                    <a:p>
                      <a:pPr indent="0" marL="0">
                        <a:buNone/>
                      </a:pPr>
                      <a:r>
                        <a:rPr lang="en-US" sz="1600" b="1" dirty="0">
                          <a:solidFill>
                            <a:schemeClr val="bg1"/>
                          </a:solidFill>
                        </a:rPr>
                        <a:t>Inception example</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solidFill>
                      <a:schemeClr val="accent2"/>
                    </a:solidFill>
                  </a:tcPr>
                </a:tc>
              </a:tr>
              <a:tr h="502920">
                <a:tc>
                  <a:txBody>
                    <a:bodyPr/>
                    <a:lstStyle/>
                    <a:p>
                      <a:pPr indent="0" marL="0">
                        <a:buNone/>
                      </a:pPr>
                      <a:r>
                        <a:rPr lang="en-US" sz="1600" dirty="0">
                          <a:solidFill>
                            <a:srgbClr val="0F1B3D"/>
                          </a:solidFill>
                        </a:rPr>
                        <a:t>Genres</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c>
                  <a:txBody>
                    <a:bodyPr/>
                    <a:lstStyle/>
                    <a:p>
                      <a:pPr indent="0" marL="0">
                        <a:buNone/>
                      </a:pPr>
                      <a:r>
                        <a:rPr lang="en-US" sz="1600" dirty="0">
                          <a:solidFill>
                            <a:srgbClr val="0F1B3D"/>
                          </a:solidFill>
                        </a:rPr>
                        <a:t>One-hot (MultiLabelBinarizer)</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c>
                  <a:txBody>
                    <a:bodyPr/>
                    <a:lstStyle/>
                    <a:p>
                      <a:pPr indent="0" marL="0">
                        <a:buNone/>
                      </a:pPr>
                      <a:r>
                        <a:rPr lang="en-US" sz="1600" dirty="0">
                          <a:solidFill>
                            <a:srgbClr val="0F1B3D"/>
                          </a:solidFill>
                        </a:rPr>
                        <a:t>Sci-Fi=1, Action=1, Romance=0</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r>
              <a:tr h="502920">
                <a:tc>
                  <a:txBody>
                    <a:bodyPr/>
                    <a:lstStyle/>
                    <a:p>
                      <a:pPr indent="0" marL="0">
                        <a:buNone/>
                      </a:pPr>
                      <a:r>
                        <a:rPr lang="en-US" sz="1600" dirty="0">
                          <a:solidFill>
                            <a:srgbClr val="0F1B3D"/>
                          </a:solidFill>
                        </a:rPr>
                        <a:t>Tags</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c>
                  <a:txBody>
                    <a:bodyPr/>
                    <a:lstStyle/>
                    <a:p>
                      <a:pPr indent="0" marL="0">
                        <a:buNone/>
                      </a:pPr>
                      <a:r>
                        <a:rPr lang="en-US" sz="1600" dirty="0">
                          <a:solidFill>
                            <a:srgbClr val="0F1B3D"/>
                          </a:solidFill>
                        </a:rPr>
                        <a:t>Bag of words (CountVectorizer)</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c>
                  <a:txBody>
                    <a:bodyPr/>
                    <a:lstStyle/>
                    <a:p>
                      <a:pPr indent="0" marL="0">
                        <a:buNone/>
                      </a:pPr>
                      <a:r>
                        <a:rPr lang="en-US" sz="1600" dirty="0">
                          <a:solidFill>
                            <a:srgbClr val="0F1B3D"/>
                          </a:solidFill>
                        </a:rPr>
                        <a:t>dream=1, heist=1, love=0</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r>
              <a:tr h="502920">
                <a:tc>
                  <a:txBody>
                    <a:bodyPr/>
                    <a:lstStyle/>
                    <a:p>
                      <a:pPr indent="0" marL="0">
                        <a:buNone/>
                      </a:pPr>
                      <a:r>
                        <a:rPr lang="en-US" sz="1600" dirty="0">
                          <a:solidFill>
                            <a:srgbClr val="0F1B3D"/>
                          </a:solidFill>
                        </a:rPr>
                        <a:t>Rating</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c>
                  <a:txBody>
                    <a:bodyPr/>
                    <a:lstStyle/>
                    <a:p>
                      <a:pPr indent="0" marL="0">
                        <a:buNone/>
                      </a:pPr>
                      <a:r>
                        <a:rPr lang="en-US" sz="1600" dirty="0">
                          <a:solidFill>
                            <a:srgbClr val="0F1B3D"/>
                          </a:solidFill>
                        </a:rPr>
                        <a:t>Scale 0 to 1 (MinMaxScaler)</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c>
                  <a:txBody>
                    <a:bodyPr/>
                    <a:lstStyle/>
                    <a:p>
                      <a:pPr indent="0" marL="0">
                        <a:buNone/>
                      </a:pPr>
                      <a:r>
                        <a:rPr lang="en-US" sz="1600" dirty="0">
                          <a:solidFill>
                            <a:srgbClr val="0F1B3D"/>
                          </a:solidFill>
                        </a:rPr>
                        <a:t>8.8 becomes 0.87</a:t>
                      </a:r>
                      <a:endParaRPr lang="en-US" sz="1600" dirty="0"/>
                    </a:p>
                  </a:txBody>
                  <a:tcPr marL="91440" marR="91440" marT="45720" marB="45720" anchor="ctr">
                    <a:lnL w="6350" cap="flat" cmpd="sng" algn="ctr">
                      <a:solidFill>
                        <a:srgbClr val="C5CDE6"/>
                      </a:solidFill>
                      <a:prstDash val="solid"/>
                      <a:round/>
                      <a:headEnd type="none" w="med" len="med"/>
                      <a:tailEnd type="none" w="med" len="med"/>
                    </a:lnL>
                    <a:lnR w="6350" cap="flat" cmpd="sng" algn="ctr">
                      <a:solidFill>
                        <a:srgbClr val="C5CDE6"/>
                      </a:solidFill>
                      <a:prstDash val="solid"/>
                      <a:round/>
                      <a:headEnd type="none" w="med" len="med"/>
                      <a:tailEnd type="none" w="med" len="med"/>
                    </a:lnR>
                    <a:lnT w="6350" cap="flat" cmpd="sng" algn="ctr">
                      <a:solidFill>
                        <a:srgbClr val="C5CDE6"/>
                      </a:solidFill>
                      <a:prstDash val="solid"/>
                      <a:round/>
                      <a:headEnd type="none" w="med" len="med"/>
                      <a:tailEnd type="none" w="med" len="med"/>
                    </a:lnT>
                    <a:lnB w="6350" cap="flat" cmpd="sng" algn="ctr">
                      <a:solidFill>
                        <a:srgbClr val="C5CDE6"/>
                      </a:solidFill>
                      <a:prstDash val="solid"/>
                      <a:round/>
                      <a:headEnd type="none" w="med" len="med"/>
                      <a:tailEnd type="none" w="med" len="med"/>
                    </a:lnB>
                  </a:tcPr>
                </a:tc>
              </a:tr>
            </a:tbl>
          </a:graphicData>
        </a:graphic>
      </p:graphicFrame>
      <p:sp>
        <p:nvSpPr>
          <p:cNvPr id="5" name="card"/>
          <p:cNvSpPr/>
          <p:nvPr/>
        </p:nvSpPr>
        <p:spPr>
          <a:xfrm>
            <a:off x="457200" y="3931920"/>
            <a:ext cx="8229600" cy="640080"/>
          </a:xfrm>
          <a:prstGeom prst="roundRect">
            <a:avLst>
              <a:gd name="adj" fmla="val 17143"/>
            </a:avLst>
          </a:prstGeom>
          <a:solidFill>
            <a:schemeClr val="tx2"/>
          </a:solidFill>
          <a:ln w="12700">
            <a:solidFill>
              <a:schemeClr val="tx2"/>
            </a:solidFill>
            <a:prstDash val="solid"/>
          </a:ln>
        </p:spPr>
      </p:sp>
      <p:sp>
        <p:nvSpPr>
          <p:cNvPr id="6" name="Text 3"/>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800" b="1" dirty="0">
                <a:solidFill>
                  <a:schemeClr val="bg1"/>
                </a:solidFill>
              </a:rPr>
              <a:t>Vector = [ genres x 2  |  tags  |  rating ]</a:t>
            </a:r>
            <a:endParaRPr lang="en-US" sz="18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The Two ML Algorithms</a:t>
            </a:r>
            <a:endParaRPr lang="en-US" sz="3600" dirty="0"/>
          </a:p>
        </p:txBody>
      </p:sp>
      <p:sp>
        <p:nvSpPr>
          <p:cNvPr id="3" name="card"/>
          <p:cNvSpPr/>
          <p:nvPr/>
        </p:nvSpPr>
        <p:spPr>
          <a:xfrm>
            <a:off x="457200" y="1234440"/>
            <a:ext cx="4023360" cy="3383280"/>
          </a:xfrm>
          <a:prstGeom prst="roundRect">
            <a:avLst>
              <a:gd name="adj" fmla="val 3243"/>
            </a:avLst>
          </a:prstGeom>
          <a:solidFill>
            <a:schemeClr val="bg2"/>
          </a:solidFill>
          <a:ln w="12700">
            <a:solidFill>
              <a:schemeClr val="bg2"/>
            </a:solidFill>
            <a:prstDash val="solid"/>
          </a:ln>
        </p:spPr>
      </p:sp>
      <p:sp>
        <p:nvSpPr>
          <p:cNvPr id="4" name="badge"/>
          <p:cNvSpPr/>
          <p:nvPr/>
        </p:nvSpPr>
        <p:spPr>
          <a:xfrm>
            <a:off x="685800" y="1417320"/>
            <a:ext cx="502920" cy="502920"/>
          </a:xfrm>
          <a:prstGeom prst="ellipse">
            <a:avLst/>
          </a:prstGeom>
          <a:solidFill>
            <a:schemeClr val="accent2"/>
          </a:solidFill>
          <a:ln w="12700">
            <a:solidFill>
              <a:schemeClr val="accent2"/>
            </a:solidFill>
            <a:prstDash val="solid"/>
          </a:ln>
        </p:spPr>
      </p:sp>
      <p:sp>
        <p:nvSpPr>
          <p:cNvPr id="5" name="Text 3"/>
          <p:cNvSpPr txBox="1"/>
          <p:nvPr/>
        </p:nvSpPr>
        <p:spPr>
          <a:xfrm>
            <a:off x="685800" y="1417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325880" y="1417320"/>
            <a:ext cx="3017520" cy="502920"/>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KNN</a:t>
            </a:r>
            <a:endParaRPr lang="en-US" sz="2200" dirty="0"/>
          </a:p>
        </p:txBody>
      </p:sp>
      <p:sp>
        <p:nvSpPr>
          <p:cNvPr id="7" name="Text 5"/>
          <p:cNvSpPr txBox="1"/>
          <p:nvPr/>
        </p:nvSpPr>
        <p:spPr>
          <a:xfrm>
            <a:off x="685800" y="2057400"/>
            <a:ext cx="3566160" cy="640080"/>
          </a:xfrm>
          <a:prstGeom prst="rect">
            <a:avLst/>
          </a:prstGeom>
          <a:noFill/>
          <a:ln/>
        </p:spPr>
        <p:txBody>
          <a:bodyPr wrap="square" lIns="0" tIns="0" rIns="0" bIns="0" rtlCol="0" anchor="t"/>
          <a:lstStyle/>
          <a:p>
            <a:pPr indent="0" marL="0">
              <a:buNone/>
            </a:pPr>
            <a:r>
              <a:rPr lang="en-US" sz="1600" i="1" dirty="0">
                <a:solidFill>
                  <a:schemeClr val="accent5"/>
                </a:solidFill>
              </a:rPr>
              <a:t>Like asking your closest friends for suggestions.</a:t>
            </a:r>
            <a:endParaRPr lang="en-US" sz="1600" dirty="0"/>
          </a:p>
        </p:txBody>
      </p:sp>
      <p:sp>
        <p:nvSpPr>
          <p:cNvPr id="8" name="Text 6"/>
          <p:cNvSpPr txBox="1"/>
          <p:nvPr/>
        </p:nvSpPr>
        <p:spPr>
          <a:xfrm>
            <a:off x="685800" y="2743200"/>
            <a:ext cx="3566160" cy="914400"/>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chemeClr val="tx1"/>
                </a:solidFill>
              </a:rPr>
              <a:t>Measure cosine distance</a:t>
            </a:r>
            <a:endParaRPr lang="en-US" sz="1600" dirty="0"/>
          </a:p>
          <a:p>
            <a:pPr marL="342900" indent="-342900">
              <a:spcAft>
                <a:spcPts val="300"/>
              </a:spcAft>
              <a:buSzPct val="100000"/>
              <a:buChar char="•"/>
            </a:pPr>
            <a:r>
              <a:rPr lang="en-US" sz="1600" dirty="0">
                <a:solidFill>
                  <a:schemeClr val="tx1"/>
                </a:solidFill>
              </a:rPr>
              <a:t>Pick the K nearest movies</a:t>
            </a:r>
            <a:endParaRPr lang="en-US" sz="1600" dirty="0"/>
          </a:p>
          <a:p>
            <a:pPr marL="342900" indent="-342900">
              <a:spcAft>
                <a:spcPts val="300"/>
              </a:spcAft>
              <a:buSzPct val="100000"/>
              <a:buChar char="•"/>
            </a:pPr>
            <a:r>
              <a:rPr lang="en-US" sz="1600" dirty="0">
                <a:solidFill>
                  <a:schemeClr val="tx1"/>
                </a:solidFill>
              </a:rPr>
              <a:t>Show Top-N matches</a:t>
            </a:r>
            <a:endParaRPr lang="en-US" sz="1600" dirty="0"/>
          </a:p>
        </p:txBody>
      </p:sp>
      <p:sp>
        <p:nvSpPr>
          <p:cNvPr id="9" name="Text 7"/>
          <p:cNvSpPr txBox="1"/>
          <p:nvPr/>
        </p:nvSpPr>
        <p:spPr>
          <a:xfrm>
            <a:off x="685800" y="3794760"/>
            <a:ext cx="3566160" cy="640080"/>
          </a:xfrm>
          <a:prstGeom prst="rect">
            <a:avLst/>
          </a:prstGeom>
          <a:noFill/>
          <a:ln/>
        </p:spPr>
        <p:txBody>
          <a:bodyPr wrap="square" lIns="0" tIns="0" rIns="0" bIns="0" rtlCol="0" anchor="t"/>
          <a:lstStyle/>
          <a:p>
            <a:pPr indent="0" marL="0">
              <a:buNone/>
            </a:pPr>
            <a:r>
              <a:rPr lang="en-US" sz="1600" b="1" dirty="0">
                <a:solidFill>
                  <a:schemeClr val="accent2"/>
                </a:solidFill>
              </a:rPr>
              <a:t>3 Idiots: Chhichhore, Lagey Raho Munna Bhai</a:t>
            </a:r>
            <a:endParaRPr lang="en-US" sz="1600" dirty="0"/>
          </a:p>
        </p:txBody>
      </p:sp>
      <p:sp>
        <p:nvSpPr>
          <p:cNvPr id="10" name="card"/>
          <p:cNvSpPr/>
          <p:nvPr/>
        </p:nvSpPr>
        <p:spPr>
          <a:xfrm>
            <a:off x="4663440" y="1234440"/>
            <a:ext cx="4023360" cy="3383280"/>
          </a:xfrm>
          <a:prstGeom prst="roundRect">
            <a:avLst>
              <a:gd name="adj" fmla="val 3243"/>
            </a:avLst>
          </a:prstGeom>
          <a:solidFill>
            <a:schemeClr val="bg2"/>
          </a:solidFill>
          <a:ln w="12700">
            <a:solidFill>
              <a:schemeClr val="bg2"/>
            </a:solidFill>
            <a:prstDash val="solid"/>
          </a:ln>
        </p:spPr>
      </p:sp>
      <p:sp>
        <p:nvSpPr>
          <p:cNvPr id="11" name="badge"/>
          <p:cNvSpPr/>
          <p:nvPr/>
        </p:nvSpPr>
        <p:spPr>
          <a:xfrm>
            <a:off x="4892040" y="1417320"/>
            <a:ext cx="502920" cy="502920"/>
          </a:xfrm>
          <a:prstGeom prst="ellipse">
            <a:avLst/>
          </a:prstGeom>
          <a:solidFill>
            <a:schemeClr val="accent4"/>
          </a:solidFill>
          <a:ln w="12700">
            <a:solidFill>
              <a:schemeClr val="accent4"/>
            </a:solidFill>
            <a:prstDash val="solid"/>
          </a:ln>
        </p:spPr>
      </p:sp>
      <p:sp>
        <p:nvSpPr>
          <p:cNvPr id="12" name="Text 10"/>
          <p:cNvSpPr txBox="1"/>
          <p:nvPr/>
        </p:nvSpPr>
        <p:spPr>
          <a:xfrm>
            <a:off x="4892040" y="1417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5532120" y="1417320"/>
            <a:ext cx="3017520" cy="502920"/>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K-Means</a:t>
            </a:r>
            <a:endParaRPr lang="en-US" sz="2200" dirty="0"/>
          </a:p>
        </p:txBody>
      </p:sp>
      <p:sp>
        <p:nvSpPr>
          <p:cNvPr id="14" name="Text 12"/>
          <p:cNvSpPr txBox="1"/>
          <p:nvPr/>
        </p:nvSpPr>
        <p:spPr>
          <a:xfrm>
            <a:off x="4892040" y="2057400"/>
            <a:ext cx="3566160" cy="640080"/>
          </a:xfrm>
          <a:prstGeom prst="rect">
            <a:avLst/>
          </a:prstGeom>
          <a:noFill/>
          <a:ln/>
        </p:spPr>
        <p:txBody>
          <a:bodyPr wrap="square" lIns="0" tIns="0" rIns="0" bIns="0" rtlCol="0" anchor="t"/>
          <a:lstStyle/>
          <a:p>
            <a:pPr indent="0" marL="0">
              <a:buNone/>
            </a:pPr>
            <a:r>
              <a:rPr lang="en-US" sz="1600" i="1" dirty="0">
                <a:solidFill>
                  <a:schemeClr val="accent5"/>
                </a:solidFill>
              </a:rPr>
              <a:t>Like sorting movies onto shelves by type.</a:t>
            </a:r>
            <a:endParaRPr lang="en-US" sz="1600" dirty="0"/>
          </a:p>
        </p:txBody>
      </p:sp>
      <p:sp>
        <p:nvSpPr>
          <p:cNvPr id="15" name="Text 13"/>
          <p:cNvSpPr txBox="1"/>
          <p:nvPr/>
        </p:nvSpPr>
        <p:spPr>
          <a:xfrm>
            <a:off x="4892040" y="2743200"/>
            <a:ext cx="3566160" cy="914400"/>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chemeClr val="tx1"/>
                </a:solidFill>
              </a:rPr>
              <a:t>Group movies into K clusters</a:t>
            </a:r>
            <a:endParaRPr lang="en-US" sz="1600" dirty="0"/>
          </a:p>
          <a:p>
            <a:pPr marL="342900" indent="-342900">
              <a:spcAft>
                <a:spcPts val="300"/>
              </a:spcAft>
              <a:buSzPct val="100000"/>
              <a:buChar char="•"/>
            </a:pPr>
            <a:r>
              <a:rPr lang="en-US" sz="1600" dirty="0">
                <a:solidFill>
                  <a:schemeClr val="tx1"/>
                </a:solidFill>
              </a:rPr>
              <a:t>Find your movie's cluster</a:t>
            </a:r>
            <a:endParaRPr lang="en-US" sz="1600" dirty="0"/>
          </a:p>
          <a:p>
            <a:pPr marL="342900" indent="-342900">
              <a:spcAft>
                <a:spcPts val="300"/>
              </a:spcAft>
              <a:buSzPct val="100000"/>
              <a:buChar char="•"/>
            </a:pPr>
            <a:r>
              <a:rPr lang="en-US" sz="1600" dirty="0">
                <a:solidFill>
                  <a:schemeClr val="tx1"/>
                </a:solidFill>
              </a:rPr>
              <a:t>Pick the nearest in it</a:t>
            </a:r>
            <a:endParaRPr lang="en-US" sz="1600" dirty="0"/>
          </a:p>
        </p:txBody>
      </p:sp>
      <p:sp>
        <p:nvSpPr>
          <p:cNvPr id="16" name="Text 14"/>
          <p:cNvSpPr txBox="1"/>
          <p:nvPr/>
        </p:nvSpPr>
        <p:spPr>
          <a:xfrm>
            <a:off x="4892040" y="3794760"/>
            <a:ext cx="3566160" cy="640080"/>
          </a:xfrm>
          <a:prstGeom prst="rect">
            <a:avLst/>
          </a:prstGeom>
          <a:noFill/>
          <a:ln/>
        </p:spPr>
        <p:txBody>
          <a:bodyPr wrap="square" lIns="0" tIns="0" rIns="0" bIns="0" rtlCol="0" anchor="t"/>
          <a:lstStyle/>
          <a:p>
            <a:pPr indent="0" marL="0">
              <a:buNone/>
            </a:pPr>
            <a:r>
              <a:rPr lang="en-US" sz="1600" b="1" dirty="0">
                <a:solidFill>
                  <a:schemeClr val="accent4"/>
                </a:solidFill>
              </a:rPr>
              <a:t>Inception: The Matrix, Terminator 2</a:t>
            </a:r>
            <a:endParaRPr lang="en-US" sz="1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How It Looks: The UI</a:t>
            </a:r>
            <a:endParaRPr lang="en-US" sz="3600" dirty="0"/>
          </a:p>
        </p:txBody>
      </p:sp>
      <p:sp>
        <p:nvSpPr>
          <p:cNvPr id="3" name="ui-frame"/>
          <p:cNvSpPr/>
          <p:nvPr/>
        </p:nvSpPr>
        <p:spPr>
          <a:xfrm>
            <a:off x="457200" y="1234440"/>
            <a:ext cx="5303520" cy="3429000"/>
          </a:xfrm>
          <a:prstGeom prst="roundRect">
            <a:avLst>
              <a:gd name="adj" fmla="val 2667"/>
            </a:avLst>
          </a:prstGeom>
          <a:solidFill>
            <a:schemeClr val="bg1"/>
          </a:solidFill>
          <a:ln w="12700">
            <a:solidFill>
              <a:schemeClr val="accent5"/>
            </a:solidFill>
            <a:prstDash val="solid"/>
          </a:ln>
          <a:effectLst>
            <a:outerShdw sx="100000" sy="100000" kx="0" ky="0" algn="bl" rotWithShape="0" blurRad="101600" dist="25400" dir="5400000">
              <a:srgbClr val="000000">
                <a:alpha val="15000"/>
              </a:srgbClr>
            </a:outerShdw>
          </a:effectLst>
        </p:spPr>
      </p:sp>
      <p:sp>
        <p:nvSpPr>
          <p:cNvPr id="4" name="ui-sidebar"/>
          <p:cNvSpPr/>
          <p:nvPr/>
        </p:nvSpPr>
        <p:spPr>
          <a:xfrm>
            <a:off x="502920" y="1280160"/>
            <a:ext cx="1325880" cy="3337560"/>
          </a:xfrm>
          <a:prstGeom prst="rect">
            <a:avLst/>
          </a:prstGeom>
          <a:solidFill>
            <a:schemeClr val="bg2"/>
          </a:solidFill>
          <a:ln w="12700">
            <a:solidFill>
              <a:schemeClr val="bg2"/>
            </a:solidFill>
            <a:prstDash val="solid"/>
          </a:ln>
        </p:spPr>
      </p:sp>
      <p:sp>
        <p:nvSpPr>
          <p:cNvPr id="5" name="Text 3"/>
          <p:cNvSpPr txBox="1"/>
          <p:nvPr/>
        </p:nvSpPr>
        <p:spPr>
          <a:xfrm>
            <a:off x="594360" y="1417320"/>
            <a:ext cx="1188720" cy="146304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Settings</a:t>
            </a:r>
            <a:endParaRPr lang="en-US" sz="1200" dirty="0"/>
          </a:p>
          <a:p>
            <a:pPr indent="0" marL="0">
              <a:spcAft>
                <a:spcPts val="400"/>
              </a:spcAft>
              <a:buNone/>
            </a:pPr>
            <a:r>
              <a:rPr lang="en-US" sz="1200" dirty="0">
                <a:solidFill>
                  <a:schemeClr val="tx1"/>
                </a:solidFill>
              </a:rPr>
              <a:t>(o) KNN</a:t>
            </a:r>
            <a:endParaRPr lang="en-US" sz="1200" dirty="0"/>
          </a:p>
          <a:p>
            <a:pPr indent="0" marL="0">
              <a:spcAft>
                <a:spcPts val="400"/>
              </a:spcAft>
              <a:buNone/>
            </a:pPr>
            <a:r>
              <a:rPr lang="en-US" sz="1200" dirty="0">
                <a:solidFill>
                  <a:schemeClr val="tx1"/>
                </a:solidFill>
              </a:rPr>
              <a:t>( ) K-Means</a:t>
            </a:r>
            <a:endParaRPr lang="en-US" sz="1200" dirty="0"/>
          </a:p>
          <a:p>
            <a:pPr indent="0" marL="0">
              <a:spcAft>
                <a:spcPts val="400"/>
              </a:spcAft>
              <a:buNone/>
            </a:pPr>
            <a:r>
              <a:rPr lang="en-US" sz="1200" dirty="0">
                <a:solidFill>
                  <a:schemeClr val="tx1"/>
                </a:solidFill>
              </a:rPr>
              <a:t>Results: 6</a:t>
            </a:r>
            <a:endParaRPr lang="en-US" sz="1200" dirty="0"/>
          </a:p>
        </p:txBody>
      </p:sp>
      <p:sp>
        <p:nvSpPr>
          <p:cNvPr id="6" name="ui-select"/>
          <p:cNvSpPr/>
          <p:nvPr/>
        </p:nvSpPr>
        <p:spPr>
          <a:xfrm>
            <a:off x="2011680" y="1417320"/>
            <a:ext cx="3566160" cy="347472"/>
          </a:xfrm>
          <a:prstGeom prst="rect">
            <a:avLst/>
          </a:prstGeom>
          <a:solidFill>
            <a:schemeClr val="bg2"/>
          </a:solidFill>
          <a:ln w="6350">
            <a:solidFill>
              <a:schemeClr val="accent5"/>
            </a:solidFill>
            <a:prstDash val="solid"/>
          </a:ln>
        </p:spPr>
      </p:sp>
      <p:sp>
        <p:nvSpPr>
          <p:cNvPr id="7" name="Text 5"/>
          <p:cNvSpPr txBox="1"/>
          <p:nvPr/>
        </p:nvSpPr>
        <p:spPr>
          <a:xfrm>
            <a:off x="2103120" y="1417320"/>
            <a:ext cx="3383280" cy="347472"/>
          </a:xfrm>
          <a:prstGeom prst="rect">
            <a:avLst/>
          </a:prstGeom>
          <a:noFill/>
          <a:ln/>
        </p:spPr>
        <p:txBody>
          <a:bodyPr wrap="square" lIns="0" tIns="0" rIns="0" bIns="0" rtlCol="0" anchor="ctr"/>
          <a:lstStyle/>
          <a:p>
            <a:pPr indent="0" marL="0">
              <a:buNone/>
            </a:pPr>
            <a:r>
              <a:rPr lang="en-US" sz="1300" dirty="0">
                <a:solidFill>
                  <a:schemeClr val="tx1"/>
                </a:solidFill>
              </a:rPr>
              <a:t>Inception</a:t>
            </a:r>
            <a:endParaRPr lang="en-US" sz="1300" dirty="0"/>
          </a:p>
        </p:txBody>
      </p:sp>
      <p:sp>
        <p:nvSpPr>
          <p:cNvPr id="8" name="ui-button"/>
          <p:cNvSpPr/>
          <p:nvPr/>
        </p:nvSpPr>
        <p:spPr>
          <a:xfrm>
            <a:off x="2011680" y="1874520"/>
            <a:ext cx="1371600" cy="347472"/>
          </a:xfrm>
          <a:prstGeom prst="roundRect">
            <a:avLst>
              <a:gd name="adj" fmla="val 15789"/>
            </a:avLst>
          </a:prstGeom>
          <a:solidFill>
            <a:schemeClr val="accent3"/>
          </a:solidFill>
          <a:ln w="12700">
            <a:solidFill>
              <a:schemeClr val="accent3"/>
            </a:solidFill>
            <a:prstDash val="solid"/>
          </a:ln>
        </p:spPr>
      </p:sp>
      <p:sp>
        <p:nvSpPr>
          <p:cNvPr id="9" name="Text 7"/>
          <p:cNvSpPr txBox="1"/>
          <p:nvPr/>
        </p:nvSpPr>
        <p:spPr>
          <a:xfrm>
            <a:off x="2011680" y="1874520"/>
            <a:ext cx="1371600" cy="347472"/>
          </a:xfrm>
          <a:prstGeom prst="rect">
            <a:avLst/>
          </a:prstGeom>
          <a:noFill/>
          <a:ln/>
        </p:spPr>
        <p:txBody>
          <a:bodyPr wrap="square" lIns="0" tIns="0" rIns="0" bIns="0" rtlCol="0" anchor="ctr"/>
          <a:lstStyle/>
          <a:p>
            <a:pPr algn="ctr" indent="0" marL="0">
              <a:buNone/>
            </a:pPr>
            <a:r>
              <a:rPr lang="en-US" sz="1300" b="1" dirty="0">
                <a:solidFill>
                  <a:schemeClr val="bg1"/>
                </a:solidFill>
              </a:rPr>
              <a:t>Recommend</a:t>
            </a:r>
            <a:endParaRPr lang="en-US" sz="1300" dirty="0"/>
          </a:p>
        </p:txBody>
      </p:sp>
      <p:sp>
        <p:nvSpPr>
          <p:cNvPr id="10" name="Text 8"/>
          <p:cNvSpPr txBox="1"/>
          <p:nvPr/>
        </p:nvSpPr>
        <p:spPr>
          <a:xfrm>
            <a:off x="2011680" y="2331720"/>
            <a:ext cx="3566160" cy="274320"/>
          </a:xfrm>
          <a:prstGeom prst="rect">
            <a:avLst/>
          </a:prstGeom>
          <a:noFill/>
          <a:ln/>
        </p:spPr>
        <p:txBody>
          <a:bodyPr wrap="square" lIns="0" tIns="0" rIns="0" bIns="0" rtlCol="0" anchor="t"/>
          <a:lstStyle/>
          <a:p>
            <a:pPr indent="0" marL="0">
              <a:buNone/>
            </a:pPr>
            <a:r>
              <a:rPr lang="en-US" sz="1300" b="1" dirty="0">
                <a:solidFill>
                  <a:schemeClr val="tx1"/>
                </a:solidFill>
              </a:rPr>
              <a:t>Because you liked Inception:</a:t>
            </a:r>
            <a:endParaRPr lang="en-US" sz="1300" dirty="0"/>
          </a:p>
        </p:txBody>
      </p:sp>
      <p:sp>
        <p:nvSpPr>
          <p:cNvPr id="11" name="ui-card"/>
          <p:cNvSpPr/>
          <p:nvPr/>
        </p:nvSpPr>
        <p:spPr>
          <a:xfrm>
            <a:off x="2011680" y="2697480"/>
            <a:ext cx="1143000" cy="1783080"/>
          </a:xfrm>
          <a:prstGeom prst="roundRect">
            <a:avLst>
              <a:gd name="adj" fmla="val 6400"/>
            </a:avLst>
          </a:prstGeom>
          <a:solidFill>
            <a:schemeClr val="bg1"/>
          </a:solidFill>
          <a:ln w="6350">
            <a:solidFill>
              <a:schemeClr val="accent5"/>
            </a:solidFill>
            <a:prstDash val="solid"/>
          </a:ln>
        </p:spPr>
      </p:sp>
      <p:sp>
        <p:nvSpPr>
          <p:cNvPr id="12" name="Text 10"/>
          <p:cNvSpPr txBox="1"/>
          <p:nvPr/>
        </p:nvSpPr>
        <p:spPr>
          <a:xfrm>
            <a:off x="2084832" y="2788920"/>
            <a:ext cx="1005840" cy="457200"/>
          </a:xfrm>
          <a:prstGeom prst="rect">
            <a:avLst/>
          </a:prstGeom>
          <a:noFill/>
          <a:ln/>
        </p:spPr>
        <p:txBody>
          <a:bodyPr wrap="square" lIns="0" tIns="0" rIns="0" bIns="0" rtlCol="0" anchor="t"/>
          <a:lstStyle/>
          <a:p>
            <a:pPr indent="0" marL="0">
              <a:buNone/>
            </a:pPr>
            <a:r>
              <a:rPr lang="en-US" sz="1200" b="1" dirty="0">
                <a:solidFill>
                  <a:schemeClr val="tx1"/>
                </a:solidFill>
              </a:rPr>
              <a:t>The Matrix</a:t>
            </a:r>
            <a:endParaRPr lang="en-US" sz="1200" dirty="0"/>
          </a:p>
        </p:txBody>
      </p:sp>
      <p:sp>
        <p:nvSpPr>
          <p:cNvPr id="13" name="Text 11"/>
          <p:cNvSpPr txBox="1"/>
          <p:nvPr/>
        </p:nvSpPr>
        <p:spPr>
          <a:xfrm>
            <a:off x="2084832" y="3291840"/>
            <a:ext cx="1005840" cy="228600"/>
          </a:xfrm>
          <a:prstGeom prst="rect">
            <a:avLst/>
          </a:prstGeom>
          <a:noFill/>
          <a:ln/>
        </p:spPr>
        <p:txBody>
          <a:bodyPr wrap="square" lIns="0" tIns="0" rIns="0" bIns="0" rtlCol="0" anchor="t"/>
          <a:lstStyle/>
          <a:p>
            <a:pPr indent="0" marL="0">
              <a:buNone/>
            </a:pPr>
            <a:r>
              <a:rPr lang="en-US" sz="1100" dirty="0">
                <a:solidFill>
                  <a:schemeClr val="accent5"/>
                </a:solidFill>
              </a:rPr>
              <a:t>Rating 8.7</a:t>
            </a:r>
            <a:endParaRPr lang="en-US" sz="1100" dirty="0"/>
          </a:p>
        </p:txBody>
      </p:sp>
      <p:sp>
        <p:nvSpPr>
          <p:cNvPr id="14" name="bar-bg"/>
          <p:cNvSpPr/>
          <p:nvPr/>
        </p:nvSpPr>
        <p:spPr>
          <a:xfrm>
            <a:off x="2084832" y="3703320"/>
            <a:ext cx="996696" cy="109728"/>
          </a:xfrm>
          <a:prstGeom prst="rect">
            <a:avLst/>
          </a:prstGeom>
          <a:solidFill>
            <a:schemeClr val="bg2"/>
          </a:solidFill>
          <a:ln w="12700">
            <a:solidFill>
              <a:schemeClr val="bg2"/>
            </a:solidFill>
            <a:prstDash val="solid"/>
          </a:ln>
        </p:spPr>
      </p:sp>
      <p:sp>
        <p:nvSpPr>
          <p:cNvPr id="15" name="bar-fill"/>
          <p:cNvSpPr/>
          <p:nvPr/>
        </p:nvSpPr>
        <p:spPr>
          <a:xfrm>
            <a:off x="2084832" y="3703320"/>
            <a:ext cx="617952" cy="109728"/>
          </a:xfrm>
          <a:prstGeom prst="rect">
            <a:avLst/>
          </a:prstGeom>
          <a:solidFill>
            <a:schemeClr val="accent4"/>
          </a:solidFill>
          <a:ln w="12700">
            <a:solidFill>
              <a:schemeClr val="accent4"/>
            </a:solidFill>
            <a:prstDash val="solid"/>
          </a:ln>
        </p:spPr>
      </p:sp>
      <p:sp>
        <p:nvSpPr>
          <p:cNvPr id="16" name="Text 14"/>
          <p:cNvSpPr txBox="1"/>
          <p:nvPr/>
        </p:nvSpPr>
        <p:spPr>
          <a:xfrm>
            <a:off x="2084832" y="3913632"/>
            <a:ext cx="1005840" cy="228600"/>
          </a:xfrm>
          <a:prstGeom prst="rect">
            <a:avLst/>
          </a:prstGeom>
          <a:noFill/>
          <a:ln/>
        </p:spPr>
        <p:txBody>
          <a:bodyPr wrap="square" lIns="0" tIns="0" rIns="0" bIns="0" rtlCol="0" anchor="t"/>
          <a:lstStyle/>
          <a:p>
            <a:pPr indent="0" marL="0">
              <a:buNone/>
            </a:pPr>
            <a:r>
              <a:rPr lang="en-US" sz="1100" b="1" dirty="0">
                <a:solidFill>
                  <a:schemeClr val="accent4"/>
                </a:solidFill>
              </a:rPr>
              <a:t>Match 62%</a:t>
            </a:r>
            <a:endParaRPr lang="en-US" sz="1100" dirty="0"/>
          </a:p>
        </p:txBody>
      </p:sp>
      <p:sp>
        <p:nvSpPr>
          <p:cNvPr id="17" name="ui-card"/>
          <p:cNvSpPr/>
          <p:nvPr/>
        </p:nvSpPr>
        <p:spPr>
          <a:xfrm>
            <a:off x="3227832" y="2697480"/>
            <a:ext cx="1143000" cy="1783080"/>
          </a:xfrm>
          <a:prstGeom prst="roundRect">
            <a:avLst>
              <a:gd name="adj" fmla="val 6400"/>
            </a:avLst>
          </a:prstGeom>
          <a:solidFill>
            <a:schemeClr val="bg1"/>
          </a:solidFill>
          <a:ln w="6350">
            <a:solidFill>
              <a:schemeClr val="accent5"/>
            </a:solidFill>
            <a:prstDash val="solid"/>
          </a:ln>
        </p:spPr>
      </p:sp>
      <p:sp>
        <p:nvSpPr>
          <p:cNvPr id="18" name="Text 16"/>
          <p:cNvSpPr txBox="1"/>
          <p:nvPr/>
        </p:nvSpPr>
        <p:spPr>
          <a:xfrm>
            <a:off x="3300984" y="2788920"/>
            <a:ext cx="1005840" cy="457200"/>
          </a:xfrm>
          <a:prstGeom prst="rect">
            <a:avLst/>
          </a:prstGeom>
          <a:noFill/>
          <a:ln/>
        </p:spPr>
        <p:txBody>
          <a:bodyPr wrap="square" lIns="0" tIns="0" rIns="0" bIns="0" rtlCol="0" anchor="t"/>
          <a:lstStyle/>
          <a:p>
            <a:pPr indent="0" marL="0">
              <a:buNone/>
            </a:pPr>
            <a:r>
              <a:rPr lang="en-US" sz="1200" b="1" dirty="0">
                <a:solidFill>
                  <a:schemeClr val="tx1"/>
                </a:solidFill>
              </a:rPr>
              <a:t>Terminator 2</a:t>
            </a:r>
            <a:endParaRPr lang="en-US" sz="1200" dirty="0"/>
          </a:p>
        </p:txBody>
      </p:sp>
      <p:sp>
        <p:nvSpPr>
          <p:cNvPr id="19" name="Text 17"/>
          <p:cNvSpPr txBox="1"/>
          <p:nvPr/>
        </p:nvSpPr>
        <p:spPr>
          <a:xfrm>
            <a:off x="3300984" y="3291840"/>
            <a:ext cx="1005840" cy="228600"/>
          </a:xfrm>
          <a:prstGeom prst="rect">
            <a:avLst/>
          </a:prstGeom>
          <a:noFill/>
          <a:ln/>
        </p:spPr>
        <p:txBody>
          <a:bodyPr wrap="square" lIns="0" tIns="0" rIns="0" bIns="0" rtlCol="0" anchor="t"/>
          <a:lstStyle/>
          <a:p>
            <a:pPr indent="0" marL="0">
              <a:buNone/>
            </a:pPr>
            <a:r>
              <a:rPr lang="en-US" sz="1100" dirty="0">
                <a:solidFill>
                  <a:schemeClr val="accent5"/>
                </a:solidFill>
              </a:rPr>
              <a:t>Rating 8.6</a:t>
            </a:r>
            <a:endParaRPr lang="en-US" sz="1100" dirty="0"/>
          </a:p>
        </p:txBody>
      </p:sp>
      <p:sp>
        <p:nvSpPr>
          <p:cNvPr id="20" name="bar-bg"/>
          <p:cNvSpPr/>
          <p:nvPr/>
        </p:nvSpPr>
        <p:spPr>
          <a:xfrm>
            <a:off x="3300984" y="3703320"/>
            <a:ext cx="996696" cy="109728"/>
          </a:xfrm>
          <a:prstGeom prst="rect">
            <a:avLst/>
          </a:prstGeom>
          <a:solidFill>
            <a:schemeClr val="bg2"/>
          </a:solidFill>
          <a:ln w="12700">
            <a:solidFill>
              <a:schemeClr val="bg2"/>
            </a:solidFill>
            <a:prstDash val="solid"/>
          </a:ln>
        </p:spPr>
      </p:sp>
      <p:sp>
        <p:nvSpPr>
          <p:cNvPr id="21" name="bar-fill"/>
          <p:cNvSpPr/>
          <p:nvPr/>
        </p:nvSpPr>
        <p:spPr>
          <a:xfrm>
            <a:off x="3300984" y="3703320"/>
            <a:ext cx="578084" cy="109728"/>
          </a:xfrm>
          <a:prstGeom prst="rect">
            <a:avLst/>
          </a:prstGeom>
          <a:solidFill>
            <a:schemeClr val="accent4"/>
          </a:solidFill>
          <a:ln w="12700">
            <a:solidFill>
              <a:schemeClr val="accent4"/>
            </a:solidFill>
            <a:prstDash val="solid"/>
          </a:ln>
        </p:spPr>
      </p:sp>
      <p:sp>
        <p:nvSpPr>
          <p:cNvPr id="22" name="Text 20"/>
          <p:cNvSpPr txBox="1"/>
          <p:nvPr/>
        </p:nvSpPr>
        <p:spPr>
          <a:xfrm>
            <a:off x="3300984" y="3913632"/>
            <a:ext cx="1005840" cy="228600"/>
          </a:xfrm>
          <a:prstGeom prst="rect">
            <a:avLst/>
          </a:prstGeom>
          <a:noFill/>
          <a:ln/>
        </p:spPr>
        <p:txBody>
          <a:bodyPr wrap="square" lIns="0" tIns="0" rIns="0" bIns="0" rtlCol="0" anchor="t"/>
          <a:lstStyle/>
          <a:p>
            <a:pPr indent="0" marL="0">
              <a:buNone/>
            </a:pPr>
            <a:r>
              <a:rPr lang="en-US" sz="1100" b="1" dirty="0">
                <a:solidFill>
                  <a:schemeClr val="accent4"/>
                </a:solidFill>
              </a:rPr>
              <a:t>Match 58%</a:t>
            </a:r>
            <a:endParaRPr lang="en-US" sz="1100" dirty="0"/>
          </a:p>
        </p:txBody>
      </p:sp>
      <p:sp>
        <p:nvSpPr>
          <p:cNvPr id="23" name="ui-card"/>
          <p:cNvSpPr/>
          <p:nvPr/>
        </p:nvSpPr>
        <p:spPr>
          <a:xfrm>
            <a:off x="4443984" y="2697480"/>
            <a:ext cx="1143000" cy="1783080"/>
          </a:xfrm>
          <a:prstGeom prst="roundRect">
            <a:avLst>
              <a:gd name="adj" fmla="val 6400"/>
            </a:avLst>
          </a:prstGeom>
          <a:solidFill>
            <a:schemeClr val="bg1"/>
          </a:solidFill>
          <a:ln w="6350">
            <a:solidFill>
              <a:schemeClr val="accent5"/>
            </a:solidFill>
            <a:prstDash val="solid"/>
          </a:ln>
        </p:spPr>
      </p:sp>
      <p:sp>
        <p:nvSpPr>
          <p:cNvPr id="24" name="Text 22"/>
          <p:cNvSpPr txBox="1"/>
          <p:nvPr/>
        </p:nvSpPr>
        <p:spPr>
          <a:xfrm>
            <a:off x="4517136" y="2788920"/>
            <a:ext cx="1005840" cy="457200"/>
          </a:xfrm>
          <a:prstGeom prst="rect">
            <a:avLst/>
          </a:prstGeom>
          <a:noFill/>
          <a:ln/>
        </p:spPr>
        <p:txBody>
          <a:bodyPr wrap="square" lIns="0" tIns="0" rIns="0" bIns="0" rtlCol="0" anchor="t"/>
          <a:lstStyle/>
          <a:p>
            <a:pPr indent="0" marL="0">
              <a:buNone/>
            </a:pPr>
            <a:r>
              <a:rPr lang="en-US" sz="1200" b="1" dirty="0">
                <a:solidFill>
                  <a:schemeClr val="tx1"/>
                </a:solidFill>
              </a:rPr>
              <a:t>Edge of Tomorrow</a:t>
            </a:r>
            <a:endParaRPr lang="en-US" sz="1200" dirty="0"/>
          </a:p>
        </p:txBody>
      </p:sp>
      <p:sp>
        <p:nvSpPr>
          <p:cNvPr id="25" name="Text 23"/>
          <p:cNvSpPr txBox="1"/>
          <p:nvPr/>
        </p:nvSpPr>
        <p:spPr>
          <a:xfrm>
            <a:off x="4517136" y="3291840"/>
            <a:ext cx="1005840" cy="228600"/>
          </a:xfrm>
          <a:prstGeom prst="rect">
            <a:avLst/>
          </a:prstGeom>
          <a:noFill/>
          <a:ln/>
        </p:spPr>
        <p:txBody>
          <a:bodyPr wrap="square" lIns="0" tIns="0" rIns="0" bIns="0" rtlCol="0" anchor="t"/>
          <a:lstStyle/>
          <a:p>
            <a:pPr indent="0" marL="0">
              <a:buNone/>
            </a:pPr>
            <a:r>
              <a:rPr lang="en-US" sz="1100" dirty="0">
                <a:solidFill>
                  <a:schemeClr val="accent5"/>
                </a:solidFill>
              </a:rPr>
              <a:t>Rating 7.9</a:t>
            </a:r>
            <a:endParaRPr lang="en-US" sz="1100" dirty="0"/>
          </a:p>
        </p:txBody>
      </p:sp>
      <p:sp>
        <p:nvSpPr>
          <p:cNvPr id="26" name="bar-bg"/>
          <p:cNvSpPr/>
          <p:nvPr/>
        </p:nvSpPr>
        <p:spPr>
          <a:xfrm>
            <a:off x="4517136" y="3703320"/>
            <a:ext cx="996696" cy="109728"/>
          </a:xfrm>
          <a:prstGeom prst="rect">
            <a:avLst/>
          </a:prstGeom>
          <a:solidFill>
            <a:schemeClr val="bg2"/>
          </a:solidFill>
          <a:ln w="12700">
            <a:solidFill>
              <a:schemeClr val="bg2"/>
            </a:solidFill>
            <a:prstDash val="solid"/>
          </a:ln>
        </p:spPr>
      </p:sp>
      <p:sp>
        <p:nvSpPr>
          <p:cNvPr id="27" name="bar-fill"/>
          <p:cNvSpPr/>
          <p:nvPr/>
        </p:nvSpPr>
        <p:spPr>
          <a:xfrm>
            <a:off x="4517136" y="3703320"/>
            <a:ext cx="578084" cy="109728"/>
          </a:xfrm>
          <a:prstGeom prst="rect">
            <a:avLst/>
          </a:prstGeom>
          <a:solidFill>
            <a:schemeClr val="accent4"/>
          </a:solidFill>
          <a:ln w="12700">
            <a:solidFill>
              <a:schemeClr val="accent4"/>
            </a:solidFill>
            <a:prstDash val="solid"/>
          </a:ln>
        </p:spPr>
      </p:sp>
      <p:sp>
        <p:nvSpPr>
          <p:cNvPr id="28" name="Text 26"/>
          <p:cNvSpPr txBox="1"/>
          <p:nvPr/>
        </p:nvSpPr>
        <p:spPr>
          <a:xfrm>
            <a:off x="4517136" y="3913632"/>
            <a:ext cx="1005840" cy="228600"/>
          </a:xfrm>
          <a:prstGeom prst="rect">
            <a:avLst/>
          </a:prstGeom>
          <a:noFill/>
          <a:ln/>
        </p:spPr>
        <p:txBody>
          <a:bodyPr wrap="square" lIns="0" tIns="0" rIns="0" bIns="0" rtlCol="0" anchor="t"/>
          <a:lstStyle/>
          <a:p>
            <a:pPr indent="0" marL="0">
              <a:buNone/>
            </a:pPr>
            <a:r>
              <a:rPr lang="en-US" sz="1100" b="1" dirty="0">
                <a:solidFill>
                  <a:schemeClr val="accent4"/>
                </a:solidFill>
              </a:rPr>
              <a:t>Match 58%</a:t>
            </a:r>
            <a:endParaRPr lang="en-US" sz="1100" dirty="0"/>
          </a:p>
        </p:txBody>
      </p:sp>
      <p:sp>
        <p:nvSpPr>
          <p:cNvPr id="29" name="Text 27"/>
          <p:cNvSpPr txBox="1"/>
          <p:nvPr/>
        </p:nvSpPr>
        <p:spPr>
          <a:xfrm>
            <a:off x="6035040" y="1280160"/>
            <a:ext cx="2651760" cy="329184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latin typeface="+mj-lt" pitchFamily="34" charset="0"/>
                <a:ea typeface="+mj-lt" pitchFamily="34" charset="-122"/>
                <a:cs typeface="+mj-lt" pitchFamily="34" charset="-120"/>
              </a:rPr>
              <a:t>User steps</a:t>
            </a:r>
            <a:endParaRPr lang="en-US" sz="1800" dirty="0"/>
          </a:p>
          <a:p>
            <a:pPr indent="0" marL="0">
              <a:spcAft>
                <a:spcPts val="400"/>
              </a:spcAft>
              <a:buNone/>
            </a:pPr>
            <a:r>
              <a:rPr lang="en-US" sz="1800" dirty="0">
                <a:solidFill>
                  <a:schemeClr val="tx1"/>
                </a:solidFill>
              </a:rPr>
              <a:t>1. Pick a movie</a:t>
            </a:r>
            <a:endParaRPr lang="en-US" sz="1800" dirty="0"/>
          </a:p>
          <a:p>
            <a:pPr indent="0" marL="0">
              <a:spcAft>
                <a:spcPts val="400"/>
              </a:spcAft>
              <a:buNone/>
            </a:pPr>
            <a:r>
              <a:rPr lang="en-US" sz="1800" dirty="0">
                <a:solidFill>
                  <a:schemeClr val="tx1"/>
                </a:solidFill>
              </a:rPr>
              <a:t>2. Choose algorithm</a:t>
            </a:r>
            <a:endParaRPr lang="en-US" sz="1800" dirty="0"/>
          </a:p>
          <a:p>
            <a:pPr indent="0" marL="0">
              <a:spcAft>
                <a:spcPts val="400"/>
              </a:spcAft>
              <a:buNone/>
            </a:pPr>
            <a:r>
              <a:rPr lang="en-US" sz="1800" dirty="0">
                <a:solidFill>
                  <a:schemeClr val="tx1"/>
                </a:solidFill>
              </a:rPr>
              <a:t>3. Click Recommend</a:t>
            </a:r>
            <a:endParaRPr lang="en-US" sz="1800" dirty="0"/>
          </a:p>
          <a:p>
            <a:pPr indent="0" marL="0">
              <a:spcAft>
                <a:spcPts val="400"/>
              </a:spcAft>
              <a:buNone/>
            </a:pPr>
            <a:r>
              <a:rPr lang="en-US" sz="1800" dirty="0">
                <a:solidFill>
                  <a:schemeClr val="tx1"/>
                </a:solidFill>
              </a:rPr>
              <a:t> </a:t>
            </a:r>
            <a:endParaRPr lang="en-US" sz="1800" dirty="0"/>
          </a:p>
          <a:p>
            <a:pPr indent="0" marL="0">
              <a:spcAft>
                <a:spcPts val="400"/>
              </a:spcAft>
              <a:buNone/>
            </a:pPr>
            <a:r>
              <a:rPr lang="en-US" sz="2000" b="1" dirty="0">
                <a:solidFill>
                  <a:schemeClr val="tx1"/>
                </a:solidFill>
                <a:latin typeface="+mj-lt" pitchFamily="34" charset="0"/>
                <a:ea typeface="+mj-lt" pitchFamily="34" charset="-122"/>
                <a:cs typeface="+mj-lt" pitchFamily="34" charset="-120"/>
              </a:rPr>
              <a:t>Output</a:t>
            </a:r>
            <a:endParaRPr lang="en-US" sz="1800" dirty="0"/>
          </a:p>
          <a:p>
            <a:pPr indent="0" marL="0">
              <a:spcAft>
                <a:spcPts val="400"/>
              </a:spcAft>
              <a:buNone/>
            </a:pPr>
            <a:r>
              <a:rPr lang="en-US" sz="1800" dirty="0">
                <a:solidFill>
                  <a:schemeClr val="tx1"/>
                </a:solidFill>
              </a:rPr>
              <a:t>Cards with rating, genres and match %</a:t>
            </a:r>
            <a:endParaRPr lang="en-US" sz="18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Conclusion and Future Scope</a:t>
            </a:r>
            <a:endParaRPr lang="en-US" sz="3600" dirty="0"/>
          </a:p>
        </p:txBody>
      </p:sp>
      <p:sp>
        <p:nvSpPr>
          <p:cNvPr id="3" name="card"/>
          <p:cNvSpPr/>
          <p:nvPr/>
        </p:nvSpPr>
        <p:spPr>
          <a:xfrm>
            <a:off x="457200" y="1280160"/>
            <a:ext cx="2651760" cy="3200400"/>
          </a:xfrm>
          <a:prstGeom prst="roundRect">
            <a:avLst>
              <a:gd name="adj" fmla="val 4138"/>
            </a:avLst>
          </a:prstGeom>
          <a:solidFill>
            <a:schemeClr val="accent6"/>
          </a:solidFill>
          <a:ln w="12700">
            <a:solidFill>
              <a:schemeClr val="accent6"/>
            </a:solidFill>
            <a:prstDash val="solid"/>
          </a:ln>
        </p:spPr>
      </p:sp>
      <p:sp>
        <p:nvSpPr>
          <p:cNvPr id="4" name="badge"/>
          <p:cNvSpPr/>
          <p:nvPr/>
        </p:nvSpPr>
        <p:spPr>
          <a:xfrm>
            <a:off x="685800" y="1508760"/>
            <a:ext cx="502920" cy="502920"/>
          </a:xfrm>
          <a:prstGeom prst="ellipse">
            <a:avLst/>
          </a:prstGeom>
          <a:solidFill>
            <a:schemeClr val="accent4"/>
          </a:solidFill>
          <a:ln w="12700">
            <a:solidFill>
              <a:schemeClr val="accent4"/>
            </a:solidFill>
            <a:prstDash val="solid"/>
          </a:ln>
        </p:spPr>
      </p:sp>
      <p:sp>
        <p:nvSpPr>
          <p:cNvPr id="5" name="Text 3"/>
          <p:cNvSpPr txBox="1"/>
          <p:nvPr/>
        </p:nvSpPr>
        <p:spPr>
          <a:xfrm>
            <a:off x="685800" y="1508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325880" y="1508760"/>
            <a:ext cx="1737360" cy="502920"/>
          </a:xfrm>
          <a:prstGeom prst="rect">
            <a:avLst/>
          </a:prstGeom>
          <a:noFill/>
          <a:ln/>
        </p:spPr>
        <p:txBody>
          <a:bodyPr wrap="square" lIns="0" tIns="0" rIns="0" bIns="0" rtlCol="0" anchor="ctr"/>
          <a:lstStyle/>
          <a:p>
            <a:pPr indent="0" marL="0">
              <a:buNone/>
            </a:pPr>
            <a:r>
              <a:rPr lang="en-US" sz="1800" b="1" dirty="0">
                <a:solidFill>
                  <a:schemeClr val="bg1"/>
                </a:solidFill>
                <a:latin typeface="+mj-lt" pitchFamily="34" charset="0"/>
                <a:ea typeface="+mj-lt" pitchFamily="34" charset="-122"/>
                <a:cs typeface="+mj-lt" pitchFamily="34" charset="-120"/>
              </a:rPr>
              <a:t>Achieved</a:t>
            </a:r>
            <a:endParaRPr lang="en-US" sz="1800" dirty="0"/>
          </a:p>
        </p:txBody>
      </p:sp>
      <p:sp>
        <p:nvSpPr>
          <p:cNvPr id="7" name="Text 5"/>
          <p:cNvSpPr txBox="1"/>
          <p:nvPr/>
        </p:nvSpPr>
        <p:spPr>
          <a:xfrm>
            <a:off x="685800" y="2286000"/>
            <a:ext cx="2286000"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Working recommender, 110 movies</a:t>
            </a:r>
            <a:endParaRPr lang="en-US" sz="1700" dirty="0"/>
          </a:p>
          <a:p>
            <a:pPr marL="342900" indent="-342900">
              <a:spcAft>
                <a:spcPts val="1000"/>
              </a:spcAft>
              <a:buSzPct val="100000"/>
              <a:buChar char="•"/>
            </a:pPr>
            <a:r>
              <a:rPr lang="en-US" sz="1700" dirty="0">
                <a:solidFill>
                  <a:schemeClr val="bg1"/>
                </a:solidFill>
              </a:rPr>
              <a:t>KNN and K-Means</a:t>
            </a:r>
            <a:endParaRPr lang="en-US" sz="1700" dirty="0"/>
          </a:p>
          <a:p>
            <a:pPr marL="342900" indent="-342900">
              <a:spcAft>
                <a:spcPts val="1000"/>
              </a:spcAft>
              <a:buSzPct val="100000"/>
              <a:buChar char="•"/>
            </a:pPr>
            <a:r>
              <a:rPr lang="en-US" sz="1700" dirty="0">
                <a:solidFill>
                  <a:schemeClr val="bg1"/>
                </a:solidFill>
              </a:rPr>
              <a:t>Simple desktop UI</a:t>
            </a:r>
            <a:endParaRPr lang="en-US" sz="1700" dirty="0"/>
          </a:p>
        </p:txBody>
      </p:sp>
      <p:sp>
        <p:nvSpPr>
          <p:cNvPr id="8" name="card"/>
          <p:cNvSpPr/>
          <p:nvPr/>
        </p:nvSpPr>
        <p:spPr>
          <a:xfrm>
            <a:off x="3291840" y="1280160"/>
            <a:ext cx="2651760" cy="3200400"/>
          </a:xfrm>
          <a:prstGeom prst="roundRect">
            <a:avLst>
              <a:gd name="adj" fmla="val 4138"/>
            </a:avLst>
          </a:prstGeom>
          <a:solidFill>
            <a:schemeClr val="accent6"/>
          </a:solidFill>
          <a:ln w="12700">
            <a:solidFill>
              <a:schemeClr val="accent6"/>
            </a:solidFill>
            <a:prstDash val="solid"/>
          </a:ln>
        </p:spPr>
      </p:sp>
      <p:sp>
        <p:nvSpPr>
          <p:cNvPr id="9" name="badge"/>
          <p:cNvSpPr/>
          <p:nvPr/>
        </p:nvSpPr>
        <p:spPr>
          <a:xfrm>
            <a:off x="3520440" y="1508760"/>
            <a:ext cx="502920" cy="502920"/>
          </a:xfrm>
          <a:prstGeom prst="ellipse">
            <a:avLst/>
          </a:prstGeom>
          <a:solidFill>
            <a:schemeClr val="accent3"/>
          </a:solidFill>
          <a:ln w="12700">
            <a:solidFill>
              <a:schemeClr val="accent3"/>
            </a:solidFill>
            <a:prstDash val="solid"/>
          </a:ln>
        </p:spPr>
      </p:sp>
      <p:sp>
        <p:nvSpPr>
          <p:cNvPr id="10" name="Text 8"/>
          <p:cNvSpPr txBox="1"/>
          <p:nvPr/>
        </p:nvSpPr>
        <p:spPr>
          <a:xfrm>
            <a:off x="3520440" y="1508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4160520" y="1508760"/>
            <a:ext cx="1737360" cy="502920"/>
          </a:xfrm>
          <a:prstGeom prst="rect">
            <a:avLst/>
          </a:prstGeom>
          <a:noFill/>
          <a:ln/>
        </p:spPr>
        <p:txBody>
          <a:bodyPr wrap="square" lIns="0" tIns="0" rIns="0" bIns="0" rtlCol="0" anchor="ctr"/>
          <a:lstStyle/>
          <a:p>
            <a:pPr indent="0" marL="0">
              <a:buNone/>
            </a:pPr>
            <a:r>
              <a:rPr lang="en-US" sz="1800" b="1" dirty="0">
                <a:solidFill>
                  <a:schemeClr val="bg1"/>
                </a:solidFill>
                <a:latin typeface="+mj-lt" pitchFamily="34" charset="0"/>
                <a:ea typeface="+mj-lt" pitchFamily="34" charset="-122"/>
                <a:cs typeface="+mj-lt" pitchFamily="34" charset="-120"/>
              </a:rPr>
              <a:t>Limitations</a:t>
            </a:r>
            <a:endParaRPr lang="en-US" sz="1800" dirty="0"/>
          </a:p>
        </p:txBody>
      </p:sp>
      <p:sp>
        <p:nvSpPr>
          <p:cNvPr id="12" name="Text 10"/>
          <p:cNvSpPr txBox="1"/>
          <p:nvPr/>
        </p:nvSpPr>
        <p:spPr>
          <a:xfrm>
            <a:off x="3520440" y="2286000"/>
            <a:ext cx="2286000"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No user ratings used</a:t>
            </a:r>
            <a:endParaRPr lang="en-US" sz="1700" dirty="0"/>
          </a:p>
          <a:p>
            <a:pPr marL="342900" indent="-342900">
              <a:spcAft>
                <a:spcPts val="1000"/>
              </a:spcAft>
              <a:buSzPct val="100000"/>
              <a:buChar char="•"/>
            </a:pPr>
            <a:r>
              <a:rPr lang="en-US" sz="1700" dirty="0">
                <a:solidFill>
                  <a:schemeClr val="bg1"/>
                </a:solidFill>
              </a:rPr>
              <a:t>Small dataset</a:t>
            </a:r>
            <a:endParaRPr lang="en-US" sz="1700" dirty="0"/>
          </a:p>
          <a:p>
            <a:pPr marL="342900" indent="-342900">
              <a:spcAft>
                <a:spcPts val="1000"/>
              </a:spcAft>
              <a:buSzPct val="100000"/>
              <a:buChar char="•"/>
            </a:pPr>
            <a:r>
              <a:rPr lang="en-US" sz="1700" dirty="0">
                <a:solidFill>
                  <a:schemeClr val="bg1"/>
                </a:solidFill>
              </a:rPr>
              <a:t>Content-based only</a:t>
            </a:r>
            <a:endParaRPr lang="en-US" sz="1700" dirty="0"/>
          </a:p>
        </p:txBody>
      </p:sp>
      <p:sp>
        <p:nvSpPr>
          <p:cNvPr id="13" name="card"/>
          <p:cNvSpPr/>
          <p:nvPr/>
        </p:nvSpPr>
        <p:spPr>
          <a:xfrm>
            <a:off x="6126480" y="1280160"/>
            <a:ext cx="2651760" cy="3200400"/>
          </a:xfrm>
          <a:prstGeom prst="roundRect">
            <a:avLst>
              <a:gd name="adj" fmla="val 4138"/>
            </a:avLst>
          </a:prstGeom>
          <a:solidFill>
            <a:schemeClr val="accent6"/>
          </a:solidFill>
          <a:ln w="12700">
            <a:solidFill>
              <a:schemeClr val="accent6"/>
            </a:solidFill>
            <a:prstDash val="solid"/>
          </a:ln>
        </p:spPr>
      </p:sp>
      <p:sp>
        <p:nvSpPr>
          <p:cNvPr id="14" name="badge"/>
          <p:cNvSpPr/>
          <p:nvPr/>
        </p:nvSpPr>
        <p:spPr>
          <a:xfrm>
            <a:off x="6355080" y="1508760"/>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6355080" y="1508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6995160" y="1508760"/>
            <a:ext cx="1737360" cy="502920"/>
          </a:xfrm>
          <a:prstGeom prst="rect">
            <a:avLst/>
          </a:prstGeom>
          <a:noFill/>
          <a:ln/>
        </p:spPr>
        <p:txBody>
          <a:bodyPr wrap="square" lIns="0" tIns="0" rIns="0" bIns="0" rtlCol="0" anchor="ctr"/>
          <a:lstStyle/>
          <a:p>
            <a:pPr indent="0" marL="0">
              <a:buNone/>
            </a:pPr>
            <a:r>
              <a:rPr lang="en-US" sz="1800" b="1" dirty="0">
                <a:solidFill>
                  <a:schemeClr val="bg1"/>
                </a:solidFill>
                <a:latin typeface="+mj-lt" pitchFamily="34" charset="0"/>
                <a:ea typeface="+mj-lt" pitchFamily="34" charset="-122"/>
                <a:cs typeface="+mj-lt" pitchFamily="34" charset="-120"/>
              </a:rPr>
              <a:t>Future Scope</a:t>
            </a:r>
            <a:endParaRPr lang="en-US" sz="1800" dirty="0"/>
          </a:p>
        </p:txBody>
      </p:sp>
      <p:sp>
        <p:nvSpPr>
          <p:cNvPr id="17" name="Text 15"/>
          <p:cNvSpPr txBox="1"/>
          <p:nvPr/>
        </p:nvSpPr>
        <p:spPr>
          <a:xfrm>
            <a:off x="6355080" y="2286000"/>
            <a:ext cx="2286000"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Collaborative filtering</a:t>
            </a:r>
            <a:endParaRPr lang="en-US" sz="1700" dirty="0"/>
          </a:p>
          <a:p>
            <a:pPr marL="342900" indent="-342900">
              <a:spcAft>
                <a:spcPts val="1000"/>
              </a:spcAft>
              <a:buSzPct val="100000"/>
              <a:buChar char="•"/>
            </a:pPr>
            <a:r>
              <a:rPr lang="en-US" sz="1700" dirty="0">
                <a:solidFill>
                  <a:schemeClr val="bg1"/>
                </a:solidFill>
              </a:rPr>
              <a:t>Hybrid model</a:t>
            </a:r>
            <a:endParaRPr lang="en-US" sz="1700" dirty="0"/>
          </a:p>
          <a:p>
            <a:pPr marL="342900" indent="-342900">
              <a:spcAft>
                <a:spcPts val="1000"/>
              </a:spcAft>
              <a:buSzPct val="100000"/>
              <a:buChar char="•"/>
            </a:pPr>
            <a:r>
              <a:rPr lang="en-US" sz="1700" dirty="0">
                <a:solidFill>
                  <a:schemeClr val="bg1"/>
                </a:solidFill>
              </a:rPr>
              <a:t>MovieLens dataset</a:t>
            </a:r>
            <a:endParaRPr lang="en-US" sz="17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logo-circle"/>
          <p:cNvSpPr/>
          <p:nvPr/>
        </p:nvSpPr>
        <p:spPr>
          <a:xfrm>
            <a:off x="3794760" y="548640"/>
            <a:ext cx="1554480" cy="1554480"/>
          </a:xfrm>
          <a:prstGeom prst="ellipse">
            <a:avLst/>
          </a:prstGeom>
          <a:solidFill>
            <a:schemeClr val="bg1"/>
          </a:solidFill>
          <a:ln w="12700">
            <a:solidFill>
              <a:schemeClr val="bg1"/>
            </a:solidFill>
            <a:prstDash val="solid"/>
          </a:ln>
        </p:spPr>
      </p:sp>
      <p:pic>
        <p:nvPicPr>
          <p:cNvPr id="3" name="Image 0" descr="BVM logo">    </p:cNvPr>
          <p:cNvPicPr>
            <a:picLocks noChangeAspect="1"/>
          </p:cNvPicPr>
          <p:nvPr/>
        </p:nvPicPr>
        <p:blipFill>
          <a:blip r:embed="rId1"/>
          <a:stretch>
            <a:fillRect/>
          </a:stretch>
        </p:blipFill>
        <p:spPr>
          <a:xfrm>
            <a:off x="4023360" y="777240"/>
            <a:ext cx="1097280" cy="1042416"/>
          </a:xfrm>
          <a:prstGeom prst="rect">
            <a:avLst/>
          </a:prstGeom>
        </p:spPr>
      </p:pic>
      <p:sp>
        <p:nvSpPr>
          <p:cNvPr id="4" name="Text 0"/>
          <p:cNvSpPr/>
          <p:nvPr>
            <p:ph idx="100" type="title" hasCustomPrompt="1"/>
          </p:nvPr>
        </p:nvSpPr>
        <p:spPr>
          <a:xfrm>
            <a:off x="457200" y="2240280"/>
            <a:ext cx="8229600" cy="1097280"/>
          </a:xfrm>
          <a:prstGeom prst="rect">
            <a:avLst/>
          </a:prstGeom>
          <a:noFill/>
          <a:ln/>
        </p:spPr>
        <p:txBody>
          <a:bodyPr wrap="square" lIns="0" tIns="0" rIns="0" bIns="0" rtlCol="0" anchor="ctr"/>
          <a:lstStyle/>
          <a:p>
            <a:pPr algn="ctr" indent="0" marL="0">
              <a:buNone/>
            </a:pPr>
            <a:r>
              <a:rPr lang="en-US" sz="5600" b="1" dirty="0">
                <a:solidFill>
                  <a:schemeClr val="bg1"/>
                </a:solidFill>
              </a:rPr>
              <a:t>Thank You</a:t>
            </a:r>
            <a:endParaRPr lang="en-US" sz="5600" dirty="0"/>
          </a:p>
        </p:txBody>
      </p:sp>
      <p:sp>
        <p:nvSpPr>
          <p:cNvPr id="5" name="Text 2"/>
          <p:cNvSpPr txBox="1"/>
          <p:nvPr/>
        </p:nvSpPr>
        <p:spPr>
          <a:xfrm>
            <a:off x="457200" y="3474720"/>
            <a:ext cx="8229600" cy="457200"/>
          </a:xfrm>
          <a:prstGeom prst="rect">
            <a:avLst/>
          </a:prstGeom>
          <a:noFill/>
          <a:ln/>
        </p:spPr>
        <p:txBody>
          <a:bodyPr wrap="square" lIns="0" tIns="0" rIns="0" bIns="0" rtlCol="0" anchor="ctr"/>
          <a:lstStyle/>
          <a:p>
            <a:pPr algn="ctr" indent="0" marL="0">
              <a:buNone/>
            </a:pPr>
            <a:r>
              <a:rPr lang="en-US" sz="2400" b="1" dirty="0">
                <a:solidFill>
                  <a:schemeClr val="accent1"/>
                </a:solidFill>
              </a:rPr>
              <a:t>Prit Patel  |  23IT408</a:t>
            </a:r>
            <a:endParaRPr lang="en-US" sz="2400" dirty="0"/>
          </a:p>
        </p:txBody>
      </p:sp>
      <p:sp>
        <p:nvSpPr>
          <p:cNvPr id="6" name="Text 3"/>
          <p:cNvSpPr txBox="1"/>
          <p:nvPr/>
        </p:nvSpPr>
        <p:spPr>
          <a:xfrm>
            <a:off x="457200" y="3977640"/>
            <a:ext cx="8229600" cy="365760"/>
          </a:xfrm>
          <a:prstGeom prst="rect">
            <a:avLst/>
          </a:prstGeom>
          <a:noFill/>
          <a:ln/>
        </p:spPr>
        <p:txBody>
          <a:bodyPr wrap="square" lIns="0" tIns="0" rIns="0" bIns="0" rtlCol="0" anchor="ctr"/>
          <a:lstStyle/>
          <a:p>
            <a:pPr algn="ctr" indent="0" marL="0">
              <a:buNone/>
            </a:pPr>
            <a:r>
              <a:rPr lang="en-US" sz="1800" dirty="0">
                <a:solidFill>
                  <a:schemeClr val="bg2"/>
                </a:solidFill>
              </a:rPr>
              <a:t>Birla Vishvakarma Mahavidyalaya</a:t>
            </a:r>
            <a:endParaRPr lang="en-US" sz="1800" dirty="0"/>
          </a:p>
        </p:txBody>
      </p:sp>
    </p:spTree>
  </p:cSld>
  <p:clrMapOvr>
    <a:masterClrMapping/>
  </p:clrMapOvr>
</p:sld>
</file>

<file path=ppt/theme/theme1.xml><?xml version="1.0" encoding="utf-8"?>
<a:theme xmlns:a="http://schemas.openxmlformats.org/drawingml/2006/main" name="BVM Cinema">
  <a:themeElements>
    <a:clrScheme name="BVM Cinema">
      <a:dk1>
        <a:srgbClr val="0F1B3D"/>
      </a:dk1>
      <a:lt1>
        <a:srgbClr val="FFFFFF"/>
      </a:lt1>
      <a:dk2>
        <a:srgbClr val="1E2F66"/>
      </a:dk2>
      <a:lt2>
        <a:srgbClr val="EEF2FB"/>
      </a:lt2>
      <a:accent1>
        <a:srgbClr val="F5A623"/>
      </a:accent1>
      <a:accent2>
        <a:srgbClr val="2F5BD3"/>
      </a:accent2>
      <a:accent3>
        <a:srgbClr val="E94F64"/>
      </a:accent3>
      <a:accent4>
        <a:srgbClr val="1B8F83"/>
      </a:accent4>
      <a:accent5>
        <a:srgbClr val="5B6785"/>
      </a:accent5>
      <a:accent6>
        <a:srgbClr val="26397A"/>
      </a:accent6>
      <a:hlink>
        <a:srgbClr val="FFC857"/>
      </a:hlink>
      <a:folHlink>
        <a:srgbClr val="5B6785"/>
      </a:folHlink>
    </a:clrScheme>
    <a:fontScheme name="BVM Cinema">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Recommendation - Prit Patel (23IT408)</dc:title>
  <dc:subject>PptxGenJS Presentation</dc:subject>
  <dc:creator>Prit Patel</dc:creator>
  <cp:lastModifiedBy>Prit Patel</cp:lastModifiedBy>
  <cp:revision>1</cp:revision>
  <dcterms:created xsi:type="dcterms:W3CDTF">2026-10-09T11:06:09Z</dcterms:created>
  <dcterms:modified xsi:type="dcterms:W3CDTF">2026-10-09T11:06:09Z</dcterms:modified>
</cp:coreProperties>
</file>